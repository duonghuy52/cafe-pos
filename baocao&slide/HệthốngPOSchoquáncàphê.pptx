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8" r:id="rId9"/>
    <p:sldId id="269" r:id="rId10"/>
    <p:sldId id="270" r:id="rId11"/>
    <p:sldId id="271" r:id="rId12"/>
    <p:sldId id="272" r:id="rId13"/>
    <p:sldId id="273" r:id="rId14"/>
    <p:sldId id="274" r:id="rId15"/>
    <p:sldId id="275" r:id="rId16"/>
    <p:sldId id="276" r:id="rId17"/>
    <p:sldId id="277" r:id="rId18"/>
    <p:sldId id="293" r:id="rId19"/>
    <p:sldId id="294" r:id="rId20"/>
    <p:sldId id="295" r:id="rId21"/>
    <p:sldId id="296" r:id="rId22"/>
    <p:sldId id="298" r:id="rId23"/>
    <p:sldId id="299" r:id="rId24"/>
    <p:sldId id="297"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5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chúng ta đi sâu vào phân tích dữ liệu kinh doanh - công cụ không thể thiếu cho quán cà phê của chúng ta. [pause] Nhìn vào biểu đồ doanh thu này, các bạn có thể thấy rõ xu hướng tăng trưởng theo từng giai đoạn, giúp chúng ta dự đoán được những thời điểm cần tăng cường nguồn lực. [pause] Chú ý phần sản phẩm bán chạy nhé - đặc biệt là cà phê sữa đá đang dẫn đầu trong mùa hè này. Menu của chúng ta sẽ thay đổi dựa trên những thông tin quý giá này. [pause] Hiệu quả của từng nhân viên cũng được theo dõi chặt chẽ, giúp chúng ta khen thưởng đúng người. Bạn có nhận ra rằng thời điểm cao điểm của chúng ta đã dịch chuyển từ sáng sớm sang trưa muộn không? [pause] Đây chính là sức mạnh của phân tích dữ liệu - biến con số thành hành động cụ thể.</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34214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4544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4.png"/><Relationship Id="rId7"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jp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5.jpg"/><Relationship Id="rId4" Type="http://schemas.openxmlformats.org/officeDocument/2006/relationships/image" Target="../media/image34.jp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9.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1.jpg"/></Relationships>
</file>

<file path=ppt/slides/_rels/slide2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0368" y="2714056"/>
            <a:ext cx="4442746" cy="1240064"/>
          </a:xfrm>
          <a:custGeom>
            <a:avLst/>
            <a:gdLst/>
            <a:ahLst/>
            <a:cxnLst/>
            <a:rect l="l" t="t" r="r" b="b"/>
            <a:pathLst>
              <a:path w="2003828" h="348760">
                <a:moveTo>
                  <a:pt x="174380" y="0"/>
                </a:moveTo>
                <a:moveTo>
                  <a:pt x="174380" y="0"/>
                </a:moveTo>
                <a:lnTo>
                  <a:pt x="1829448" y="0"/>
                </a:lnTo>
                <a:quadBezTo>
                  <a:pt x="2003828" y="0"/>
                  <a:pt x="2003828" y="174380"/>
                </a:quadBezTo>
                <a:lnTo>
                  <a:pt x="2003828" y="174380"/>
                </a:lnTo>
                <a:quadBezTo>
                  <a:pt x="2003828" y="348760"/>
                  <a:pt x="1829448" y="348760"/>
                </a:quadBezTo>
                <a:lnTo>
                  <a:pt x="174380" y="348760"/>
                </a:lnTo>
                <a:quadBezTo>
                  <a:pt x="0" y="348760"/>
                  <a:pt x="0" y="174380"/>
                </a:quadBezTo>
                <a:lnTo>
                  <a:pt x="0" y="174380"/>
                </a:lnTo>
                <a:quadBezTo>
                  <a:pt x="0" y="0"/>
                  <a:pt x="174380" y="0"/>
                </a:quadBezTo>
                <a:close/>
              </a:path>
            </a:pathLst>
          </a:custGeom>
          <a:solidFill>
            <a:srgbClr val="9B6047">
              <a:alpha val="0"/>
            </a:srgbClr>
          </a:solidFill>
          <a:ln w="9525">
            <a:solidFill>
              <a:srgbClr val="EDC39B"/>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729551" y="1514481"/>
            <a:ext cx="7163495" cy="707638"/>
          </a:xfrm>
          <a:prstGeom prst="rect">
            <a:avLst/>
          </a:prstGeom>
          <a:noFill/>
          <a:ln/>
        </p:spPr>
        <p:txBody>
          <a:bodyPr wrap="square" lIns="95250" tIns="95250" rIns="95250" bIns="95250" rtlCol="0" anchor="ctr"/>
          <a:lstStyle/>
          <a:p>
            <a:pPr marL="0" indent="0">
              <a:lnSpc>
                <a:spcPct val="100000"/>
              </a:lnSpc>
              <a:spcBef>
                <a:spcPts val="375"/>
              </a:spcBef>
              <a:buNone/>
            </a:pPr>
            <a:r>
              <a:rPr lang="en-US" sz="2880" b="1" kern="0" spc="72" dirty="0">
                <a:solidFill>
                  <a:srgbClr val="EED7C0"/>
                </a:solidFill>
                <a:latin typeface="Times New Roman" panose="02020603050405020304" pitchFamily="18" charset="0"/>
                <a:ea typeface="Noto Sans" pitchFamily="34" charset="-122"/>
                <a:cs typeface="Times New Roman" panose="02020603050405020304" pitchFamily="18" charset="0"/>
              </a:rPr>
              <a:t>XÂY DỰNG PHẦN MỀM BÁN HÀNG TẠI QUÁN CAFE</a:t>
            </a:r>
            <a:endParaRPr lang="en-US" sz="1440" dirty="0">
              <a:latin typeface="Times New Roman" panose="02020603050405020304" pitchFamily="18" charset="0"/>
              <a:cs typeface="Times New Roman" panose="02020603050405020304" pitchFamily="18" charset="0"/>
            </a:endParaRPr>
          </a:p>
        </p:txBody>
      </p:sp>
      <p:sp>
        <p:nvSpPr>
          <p:cNvPr id="4" name="Text 2"/>
          <p:cNvSpPr/>
          <p:nvPr/>
        </p:nvSpPr>
        <p:spPr>
          <a:xfrm>
            <a:off x="625642" y="2848058"/>
            <a:ext cx="4553781" cy="972061"/>
          </a:xfrm>
          <a:prstGeom prst="rect">
            <a:avLst/>
          </a:prstGeom>
          <a:noFill/>
          <a:ln/>
        </p:spPr>
        <p:txBody>
          <a:bodyPr wrap="square" lIns="95250" tIns="95250" rIns="95250" bIns="95250" rtlCol="0" anchor="t">
            <a:spAutoFit/>
          </a:bodyPr>
          <a:lstStyle/>
          <a:p>
            <a:pPr marL="0" indent="0" algn="ctr">
              <a:spcBef>
                <a:spcPts val="375"/>
              </a:spcBef>
              <a:buNone/>
            </a:pPr>
            <a:r>
              <a:rPr lang="vi-VN" sz="1100" b="1" dirty="0">
                <a:solidFill>
                  <a:srgbClr val="EDC39B"/>
                </a:solidFill>
                <a:latin typeface="Times New Roman" panose="02020603050405020304" pitchFamily="18" charset="0"/>
                <a:ea typeface="Noto Sans" pitchFamily="34" charset="-122"/>
                <a:cs typeface="Times New Roman" panose="02020603050405020304" pitchFamily="18" charset="0"/>
              </a:rPr>
              <a:t>Sinh viên thực hiện:    Nguyễn Kiên Cường - 95226 </a:t>
            </a:r>
          </a:p>
          <a:p>
            <a:pPr marL="0" indent="0" algn="ctr">
              <a:spcBef>
                <a:spcPts val="375"/>
              </a:spcBef>
              <a:buNone/>
            </a:pPr>
            <a:r>
              <a:rPr lang="vi-VN" sz="1100" b="1" dirty="0">
                <a:solidFill>
                  <a:srgbClr val="EDC39B"/>
                </a:solidFill>
                <a:latin typeface="Times New Roman" panose="02020603050405020304" pitchFamily="18" charset="0"/>
                <a:ea typeface="Noto Sans" pitchFamily="34" charset="-122"/>
                <a:cs typeface="Times New Roman" panose="02020603050405020304" pitchFamily="18" charset="0"/>
              </a:rPr>
              <a:t>	              Phạm Đức Hải Đăng - 95317</a:t>
            </a:r>
          </a:p>
          <a:p>
            <a:pPr marL="0" indent="0" algn="ctr">
              <a:spcBef>
                <a:spcPts val="375"/>
              </a:spcBef>
              <a:buNone/>
            </a:pPr>
            <a:r>
              <a:rPr lang="vi-VN" sz="1100" b="1" dirty="0">
                <a:solidFill>
                  <a:srgbClr val="EDC39B"/>
                </a:solidFill>
                <a:latin typeface="Times New Roman" panose="02020603050405020304" pitchFamily="18" charset="0"/>
                <a:ea typeface="Noto Sans" pitchFamily="34" charset="-122"/>
                <a:cs typeface="Times New Roman" panose="02020603050405020304" pitchFamily="18" charset="0"/>
              </a:rPr>
              <a:t>	                        Dương Nguyễn Quốc Huy - 98516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46273" y="523453"/>
            <a:ext cx="3912501" cy="85414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vi-VN" sz="4032" b="1" kern="0" spc="144" dirty="0">
                <a:solidFill>
                  <a:srgbClr val="EED7C0"/>
                </a:solidFill>
                <a:latin typeface="+mj-lt"/>
                <a:ea typeface="Noto Sans" pitchFamily="34" charset="-122"/>
                <a:cs typeface="Noto Sans" pitchFamily="34" charset="-120"/>
              </a:rPr>
              <a:t>NỘI DUNG</a:t>
            </a:r>
            <a:endParaRPr lang="en-US" sz="1440" dirty="0">
              <a:latin typeface="+mj-lt"/>
            </a:endParaRPr>
          </a:p>
        </p:txBody>
      </p:sp>
      <p:sp>
        <p:nvSpPr>
          <p:cNvPr id="3" name="Text 1"/>
          <p:cNvSpPr/>
          <p:nvPr/>
        </p:nvSpPr>
        <p:spPr>
          <a:xfrm>
            <a:off x="1266574" y="1721636"/>
            <a:ext cx="3335950" cy="429768"/>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mj-lt"/>
                <a:ea typeface="Noto Sans" pitchFamily="34" charset="-122"/>
                <a:cs typeface="Noto Sans" pitchFamily="34" charset="-120"/>
              </a:rPr>
              <a:t>Quản lý bán hàng quán cà phê</a:t>
            </a:r>
            <a:endParaRPr lang="en-US" sz="1440" dirty="0">
              <a:latin typeface="+mj-lt"/>
            </a:endParaRPr>
          </a:p>
        </p:txBody>
      </p:sp>
      <p:sp>
        <p:nvSpPr>
          <p:cNvPr id="4" name="Text 2"/>
          <p:cNvSpPr/>
          <p:nvPr/>
        </p:nvSpPr>
        <p:spPr>
          <a:xfrm>
            <a:off x="707833" y="1616480"/>
            <a:ext cx="713232" cy="57092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EED7C0"/>
                </a:solidFill>
                <a:latin typeface="+mj-lt"/>
                <a:ea typeface="Noto Sans" pitchFamily="34" charset="-122"/>
                <a:cs typeface="Noto Sans" pitchFamily="34" charset="-120"/>
              </a:rPr>
              <a:t>01</a:t>
            </a:r>
            <a:endParaRPr lang="en-US" sz="1440" dirty="0">
              <a:latin typeface="+mj-lt"/>
            </a:endParaRPr>
          </a:p>
        </p:txBody>
      </p:sp>
      <p:sp>
        <p:nvSpPr>
          <p:cNvPr id="6" name="Text 4"/>
          <p:cNvSpPr/>
          <p:nvPr/>
        </p:nvSpPr>
        <p:spPr>
          <a:xfrm>
            <a:off x="4541083" y="1616480"/>
            <a:ext cx="713232" cy="57092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EED7C0"/>
                </a:solidFill>
                <a:latin typeface="+mj-lt"/>
                <a:ea typeface="Noto Sans" pitchFamily="34" charset="-122"/>
                <a:cs typeface="Noto Sans" pitchFamily="34" charset="-120"/>
              </a:rPr>
              <a:t>02</a:t>
            </a:r>
            <a:endParaRPr lang="en-US" sz="1440" dirty="0">
              <a:latin typeface="+mj-lt"/>
            </a:endParaRPr>
          </a:p>
        </p:txBody>
      </p:sp>
      <p:sp>
        <p:nvSpPr>
          <p:cNvPr id="7" name="Text 5"/>
          <p:cNvSpPr/>
          <p:nvPr/>
        </p:nvSpPr>
        <p:spPr>
          <a:xfrm>
            <a:off x="5099739" y="1735352"/>
            <a:ext cx="3335471"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Kiến trúc hệ thống POS</a:t>
            </a:r>
            <a:endParaRPr lang="en-US" sz="1440" dirty="0"/>
          </a:p>
        </p:txBody>
      </p:sp>
      <p:sp>
        <p:nvSpPr>
          <p:cNvPr id="8" name="Text 6"/>
          <p:cNvSpPr/>
          <p:nvPr/>
        </p:nvSpPr>
        <p:spPr>
          <a:xfrm>
            <a:off x="707918" y="2307767"/>
            <a:ext cx="713232" cy="57092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EED7C0"/>
                </a:solidFill>
                <a:latin typeface="+mj-lt"/>
                <a:ea typeface="Noto Sans" pitchFamily="34" charset="-122"/>
                <a:cs typeface="Noto Sans" pitchFamily="34" charset="-120"/>
              </a:rPr>
              <a:t>03</a:t>
            </a:r>
            <a:endParaRPr lang="en-US" sz="1440" dirty="0">
              <a:latin typeface="+mj-lt"/>
            </a:endParaRPr>
          </a:p>
        </p:txBody>
      </p:sp>
      <p:sp>
        <p:nvSpPr>
          <p:cNvPr id="9" name="Text 7"/>
          <p:cNvSpPr/>
          <p:nvPr/>
        </p:nvSpPr>
        <p:spPr>
          <a:xfrm>
            <a:off x="1267052" y="2417495"/>
            <a:ext cx="3336864"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mj-lt"/>
                <a:ea typeface="Noto Sans" pitchFamily="34" charset="-122"/>
                <a:cs typeface="Noto Sans" pitchFamily="34" charset="-120"/>
              </a:rPr>
              <a:t>Phân quyền người dùng</a:t>
            </a:r>
            <a:endParaRPr lang="en-US" sz="1440" dirty="0">
              <a:latin typeface="+mj-lt"/>
            </a:endParaRPr>
          </a:p>
        </p:txBody>
      </p:sp>
      <p:sp>
        <p:nvSpPr>
          <p:cNvPr id="10" name="Text 8"/>
          <p:cNvSpPr/>
          <p:nvPr/>
        </p:nvSpPr>
        <p:spPr>
          <a:xfrm>
            <a:off x="4540168" y="2307767"/>
            <a:ext cx="713232" cy="57092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EED7C0"/>
                </a:solidFill>
                <a:latin typeface="+mj-lt"/>
                <a:ea typeface="Noto Sans" pitchFamily="34" charset="-122"/>
                <a:cs typeface="Noto Sans" pitchFamily="34" charset="-120"/>
              </a:rPr>
              <a:t>04</a:t>
            </a:r>
            <a:endParaRPr lang="en-US" sz="1440" dirty="0">
              <a:latin typeface="+mj-lt"/>
            </a:endParaRPr>
          </a:p>
        </p:txBody>
      </p:sp>
      <p:sp>
        <p:nvSpPr>
          <p:cNvPr id="12" name="Text 10"/>
          <p:cNvSpPr/>
          <p:nvPr/>
        </p:nvSpPr>
        <p:spPr>
          <a:xfrm>
            <a:off x="707918" y="2999054"/>
            <a:ext cx="713232" cy="570926"/>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304" b="1" dirty="0">
                <a:solidFill>
                  <a:srgbClr val="EED7C0"/>
                </a:solidFill>
                <a:latin typeface="+mj-lt"/>
                <a:ea typeface="Noto Sans" pitchFamily="34" charset="-122"/>
                <a:cs typeface="Noto Sans" pitchFamily="34" charset="-120"/>
              </a:rPr>
              <a:t>05</a:t>
            </a:r>
            <a:endParaRPr lang="en-US" sz="1440" dirty="0">
              <a:latin typeface="+mj-lt"/>
            </a:endParaRPr>
          </a:p>
        </p:txBody>
      </p:sp>
      <p:sp>
        <p:nvSpPr>
          <p:cNvPr id="17" name="Text 15"/>
          <p:cNvSpPr/>
          <p:nvPr/>
        </p:nvSpPr>
        <p:spPr>
          <a:xfrm>
            <a:off x="5099739" y="2417495"/>
            <a:ext cx="3336343" cy="402336"/>
          </a:xfrm>
          <a:prstGeom prst="rect">
            <a:avLst/>
          </a:prstGeom>
          <a:noFill/>
          <a:ln/>
        </p:spPr>
        <p:txBody>
          <a:bodyPr wrap="square" lIns="95250" tIns="95250" rIns="95250" bIns="95250" rtlCol="0" anchor="ctr"/>
          <a:lstStyle/>
          <a:p>
            <a:pPr marL="0" indent="0">
              <a:lnSpc>
                <a:spcPct val="100000"/>
              </a:lnSpc>
              <a:spcBef>
                <a:spcPts val="375"/>
              </a:spcBef>
              <a:buNone/>
            </a:pPr>
            <a:r>
              <a:rPr lang="en-US" sz="1584" dirty="0">
                <a:solidFill>
                  <a:srgbClr val="FFFFFF"/>
                </a:solidFill>
                <a:latin typeface="Noto Sans" pitchFamily="34" charset="0"/>
                <a:ea typeface="Noto Sans" pitchFamily="34" charset="-122"/>
                <a:cs typeface="Noto Sans" pitchFamily="34" charset="-120"/>
              </a:rPr>
              <a:t>Báo cáo và phân tích</a:t>
            </a:r>
            <a:endParaRPr lang="en-US" sz="1440" dirty="0"/>
          </a:p>
        </p:txBody>
      </p:sp>
      <p:sp>
        <p:nvSpPr>
          <p:cNvPr id="19" name="Text 15">
            <a:extLst>
              <a:ext uri="{FF2B5EF4-FFF2-40B4-BE49-F238E27FC236}">
                <a16:creationId xmlns:a16="http://schemas.microsoft.com/office/drawing/2014/main" id="{3E280D17-6659-3475-715D-0AE989BEF6FC}"/>
              </a:ext>
            </a:extLst>
          </p:cNvPr>
          <p:cNvSpPr/>
          <p:nvPr/>
        </p:nvSpPr>
        <p:spPr>
          <a:xfrm>
            <a:off x="1267052" y="3117926"/>
            <a:ext cx="3336343" cy="402336"/>
          </a:xfrm>
          <a:prstGeom prst="rect">
            <a:avLst/>
          </a:prstGeom>
          <a:noFill/>
          <a:ln/>
        </p:spPr>
        <p:txBody>
          <a:bodyPr wrap="square" lIns="95250" tIns="95250" rIns="95250" bIns="95250" rtlCol="0" anchor="ctr"/>
          <a:lstStyle/>
          <a:p>
            <a:pPr marL="0" indent="0">
              <a:lnSpc>
                <a:spcPct val="100000"/>
              </a:lnSpc>
              <a:spcBef>
                <a:spcPts val="375"/>
              </a:spcBef>
              <a:buNone/>
            </a:pPr>
            <a:r>
              <a:rPr lang="vi-VN" sz="1584" dirty="0">
                <a:solidFill>
                  <a:srgbClr val="FFFFFF"/>
                </a:solidFill>
                <a:latin typeface="+mj-lt"/>
                <a:ea typeface="Noto Sans" pitchFamily="34" charset="-122"/>
                <a:cs typeface="Noto Sans" pitchFamily="34" charset="-120"/>
              </a:rPr>
              <a:t>Kết luận</a:t>
            </a:r>
            <a:endParaRPr lang="en-US" sz="1440"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92758" y="2423561"/>
            <a:ext cx="3799379" cy="539496"/>
          </a:xfrm>
          <a:prstGeom prst="rect">
            <a:avLst/>
          </a:prstGeom>
          <a:noFill/>
          <a:ln/>
        </p:spPr>
        <p:txBody>
          <a:bodyPr wrap="square" lIns="95250" tIns="95250" rIns="95250" bIns="95250" rtlCol="0" anchor="t"/>
          <a:lstStyle/>
          <a:p>
            <a:pPr marL="0" indent="0" algn="ctr">
              <a:lnSpc>
                <a:spcPct val="100000"/>
              </a:lnSpc>
              <a:spcBef>
                <a:spcPts val="375"/>
              </a:spcBef>
              <a:buNone/>
            </a:pPr>
            <a:r>
              <a:rPr lang="en-US" sz="2304" b="1" dirty="0">
                <a:solidFill>
                  <a:srgbClr val="FFFFFF"/>
                </a:solidFill>
                <a:latin typeface="Times New Roman" panose="02020603050405020304" pitchFamily="18" charset="0"/>
                <a:ea typeface="Noto Sans" pitchFamily="34" charset="-122"/>
                <a:cs typeface="Times New Roman" panose="02020603050405020304" pitchFamily="18" charset="0"/>
              </a:rPr>
              <a:t>Quản lý bán hàng quán cà phê</a:t>
            </a:r>
            <a:endParaRPr lang="en-US" sz="1440" dirty="0">
              <a:latin typeface="Times New Roman" panose="02020603050405020304" pitchFamily="18" charset="0"/>
              <a:cs typeface="Times New Roman" panose="02020603050405020304" pitchFamily="18" charset="0"/>
            </a:endParaRPr>
          </a:p>
        </p:txBody>
      </p:sp>
      <p:sp>
        <p:nvSpPr>
          <p:cNvPr id="3" name="Text 1"/>
          <p:cNvSpPr/>
          <p:nvPr/>
        </p:nvSpPr>
        <p:spPr>
          <a:xfrm>
            <a:off x="3276144" y="1141327"/>
            <a:ext cx="2591713" cy="1394036"/>
          </a:xfrm>
          <a:prstGeom prst="rect">
            <a:avLst/>
          </a:prstGeom>
          <a:noFill/>
          <a:ln/>
        </p:spPr>
        <p:txBody>
          <a:bodyPr wrap="square" lIns="95250" tIns="95250" rIns="95250" bIns="95250" rtlCol="0" anchor="ctr">
            <a:spAutoFit/>
          </a:bodyPr>
          <a:lstStyle/>
          <a:p>
            <a:pPr marL="0" indent="0" algn="ctr">
              <a:lnSpc>
                <a:spcPct val="112500"/>
              </a:lnSpc>
              <a:spcBef>
                <a:spcPts val="375"/>
              </a:spcBef>
              <a:buNone/>
            </a:pPr>
            <a:r>
              <a:rPr lang="en-US" sz="7488" b="1" dirty="0">
                <a:solidFill>
                  <a:srgbClr val="FFFFFF"/>
                </a:solidFill>
                <a:latin typeface="Times New Roman" panose="02020603050405020304" pitchFamily="18" charset="0"/>
                <a:ea typeface="Noto Sans" pitchFamily="34" charset="-122"/>
                <a:cs typeface="Times New Roman" panose="02020603050405020304" pitchFamily="18" charset="0"/>
              </a:rPr>
              <a:t>01</a:t>
            </a:r>
            <a:endParaRPr lang="en-US" sz="1440" dirty="0">
              <a:latin typeface="Times New Roman" panose="02020603050405020304" pitchFamily="18" charset="0"/>
              <a:cs typeface="Times New Roman" panose="02020603050405020304" pitchFamily="18" charset="0"/>
            </a:endParaRPr>
          </a:p>
        </p:txBody>
      </p:sp>
      <p:sp>
        <p:nvSpPr>
          <p:cNvPr id="4" name="Shape 2"/>
          <p:cNvSpPr/>
          <p:nvPr/>
        </p:nvSpPr>
        <p:spPr>
          <a:xfrm>
            <a:off x="4393087" y="3494108"/>
            <a:ext cx="357826" cy="0"/>
          </a:xfrm>
          <a:custGeom>
            <a:avLst/>
            <a:gdLst/>
            <a:ahLst/>
            <a:cxnLst/>
            <a:rect l="l" t="t" r="r" b="b"/>
            <a:pathLst>
              <a:path w="357826">
                <a:moveTo>
                  <a:pt x="0" y="0"/>
                </a:moveTo>
                <a:moveTo>
                  <a:pt x="0" y="0"/>
                </a:moveTo>
                <a:lnTo>
                  <a:pt x="357826" y="0"/>
                </a:lnTo>
              </a:path>
            </a:pathLst>
          </a:custGeom>
          <a:noFill/>
          <a:ln w="28575">
            <a:solidFill>
              <a:srgbClr val="EED7C0"/>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Thị trường cà phê Việt Nam</a:t>
            </a:r>
            <a:endParaRPr lang="en-US" sz="144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4"/>
          <a:stretch>
            <a:fillRect/>
          </a:stretch>
        </p:blipFill>
        <p:spPr>
          <a:xfrm>
            <a:off x="4651183" y="925116"/>
            <a:ext cx="3997757" cy="1799539"/>
          </a:xfrm>
          <a:prstGeom prst="rect">
            <a:avLst/>
          </a:prstGeom>
        </p:spPr>
      </p:pic>
      <p:pic>
        <p:nvPicPr>
          <p:cNvPr id="4" name="Image 1" descr="preencoded.png"/>
          <p:cNvPicPr>
            <a:picLocks noChangeAspect="1"/>
          </p:cNvPicPr>
          <p:nvPr/>
        </p:nvPicPr>
        <p:blipFill>
          <a:blip r:embed="rId5"/>
          <a:stretch>
            <a:fillRect/>
          </a:stretch>
        </p:blipFill>
        <p:spPr>
          <a:xfrm>
            <a:off x="4623751" y="903732"/>
            <a:ext cx="1234168" cy="511298"/>
          </a:xfrm>
          <a:prstGeom prst="rect">
            <a:avLst/>
          </a:prstGeom>
        </p:spPr>
      </p:pic>
      <p:sp>
        <p:nvSpPr>
          <p:cNvPr id="5" name="Text 1"/>
          <p:cNvSpPr/>
          <p:nvPr/>
        </p:nvSpPr>
        <p:spPr>
          <a:xfrm>
            <a:off x="4651183" y="861108"/>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02</a:t>
            </a:r>
            <a:endParaRPr lang="en-US" sz="1440" dirty="0">
              <a:latin typeface="Times New Roman" panose="02020603050405020304" pitchFamily="18" charset="0"/>
              <a:cs typeface="Times New Roman" panose="02020603050405020304" pitchFamily="18" charset="0"/>
            </a:endParaRPr>
          </a:p>
        </p:txBody>
      </p:sp>
      <p:pic>
        <p:nvPicPr>
          <p:cNvPr id="6" name="Image 2" descr="preencoded.png"/>
          <p:cNvPicPr>
            <a:picLocks noChangeAspect="1"/>
          </p:cNvPicPr>
          <p:nvPr/>
        </p:nvPicPr>
        <p:blipFill>
          <a:blip r:embed="rId4"/>
          <a:stretch>
            <a:fillRect/>
          </a:stretch>
        </p:blipFill>
        <p:spPr>
          <a:xfrm>
            <a:off x="522122" y="2903477"/>
            <a:ext cx="3997757" cy="1799539"/>
          </a:xfrm>
          <a:prstGeom prst="rect">
            <a:avLst/>
          </a:prstGeom>
        </p:spPr>
      </p:pic>
      <p:pic>
        <p:nvPicPr>
          <p:cNvPr id="7" name="Image 3" descr="preencoded.png"/>
          <p:cNvPicPr>
            <a:picLocks noChangeAspect="1"/>
          </p:cNvPicPr>
          <p:nvPr/>
        </p:nvPicPr>
        <p:blipFill>
          <a:blip r:embed="rId5"/>
          <a:stretch>
            <a:fillRect/>
          </a:stretch>
        </p:blipFill>
        <p:spPr>
          <a:xfrm>
            <a:off x="494904" y="2882093"/>
            <a:ext cx="1234168" cy="511298"/>
          </a:xfrm>
          <a:prstGeom prst="rect">
            <a:avLst/>
          </a:prstGeom>
        </p:spPr>
      </p:pic>
      <p:sp>
        <p:nvSpPr>
          <p:cNvPr id="8" name="Text 2"/>
          <p:cNvSpPr/>
          <p:nvPr/>
        </p:nvSpPr>
        <p:spPr>
          <a:xfrm>
            <a:off x="522336" y="2839469"/>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03</a:t>
            </a:r>
            <a:endParaRPr lang="en-US" sz="1440" dirty="0">
              <a:latin typeface="Times New Roman" panose="02020603050405020304" pitchFamily="18" charset="0"/>
              <a:cs typeface="Times New Roman" panose="02020603050405020304" pitchFamily="18" charset="0"/>
            </a:endParaRPr>
          </a:p>
        </p:txBody>
      </p:sp>
      <p:pic>
        <p:nvPicPr>
          <p:cNvPr id="9" name="Image 4" descr="preencoded.png"/>
          <p:cNvPicPr>
            <a:picLocks noChangeAspect="1"/>
          </p:cNvPicPr>
          <p:nvPr/>
        </p:nvPicPr>
        <p:blipFill>
          <a:blip r:embed="rId6"/>
          <a:stretch>
            <a:fillRect/>
          </a:stretch>
        </p:blipFill>
        <p:spPr>
          <a:xfrm>
            <a:off x="522336" y="925116"/>
            <a:ext cx="3997757" cy="1799682"/>
          </a:xfrm>
          <a:prstGeom prst="rect">
            <a:avLst/>
          </a:prstGeom>
        </p:spPr>
      </p:pic>
      <p:pic>
        <p:nvPicPr>
          <p:cNvPr id="10" name="Image 5" descr="preencoded.png"/>
          <p:cNvPicPr>
            <a:picLocks noChangeAspect="1"/>
          </p:cNvPicPr>
          <p:nvPr/>
        </p:nvPicPr>
        <p:blipFill>
          <a:blip r:embed="rId7"/>
          <a:stretch>
            <a:fillRect/>
          </a:stretch>
        </p:blipFill>
        <p:spPr>
          <a:xfrm>
            <a:off x="494904" y="903732"/>
            <a:ext cx="1234168" cy="511298"/>
          </a:xfrm>
          <a:prstGeom prst="rect">
            <a:avLst/>
          </a:prstGeom>
        </p:spPr>
      </p:pic>
      <p:sp>
        <p:nvSpPr>
          <p:cNvPr id="11" name="Text 3"/>
          <p:cNvSpPr/>
          <p:nvPr/>
        </p:nvSpPr>
        <p:spPr>
          <a:xfrm>
            <a:off x="522336" y="861108"/>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01</a:t>
            </a:r>
            <a:endParaRPr lang="en-US" sz="1440" dirty="0">
              <a:latin typeface="Times New Roman" panose="02020603050405020304" pitchFamily="18" charset="0"/>
              <a:cs typeface="Times New Roman" panose="02020603050405020304" pitchFamily="18" charset="0"/>
            </a:endParaRPr>
          </a:p>
        </p:txBody>
      </p:sp>
      <p:pic>
        <p:nvPicPr>
          <p:cNvPr id="12" name="Image 6" descr="preencoded.png"/>
          <p:cNvPicPr>
            <a:picLocks noChangeAspect="1"/>
          </p:cNvPicPr>
          <p:nvPr/>
        </p:nvPicPr>
        <p:blipFill>
          <a:blip r:embed="rId8"/>
          <a:stretch>
            <a:fillRect/>
          </a:stretch>
        </p:blipFill>
        <p:spPr>
          <a:xfrm>
            <a:off x="4651183" y="2903187"/>
            <a:ext cx="3997757" cy="1799539"/>
          </a:xfrm>
          <a:prstGeom prst="rect">
            <a:avLst/>
          </a:prstGeom>
        </p:spPr>
      </p:pic>
      <p:pic>
        <p:nvPicPr>
          <p:cNvPr id="13" name="Image 7" descr="preencoded.png"/>
          <p:cNvPicPr>
            <a:picLocks noChangeAspect="1"/>
          </p:cNvPicPr>
          <p:nvPr/>
        </p:nvPicPr>
        <p:blipFill>
          <a:blip r:embed="rId7"/>
          <a:stretch>
            <a:fillRect/>
          </a:stretch>
        </p:blipFill>
        <p:spPr>
          <a:xfrm>
            <a:off x="4623751" y="2882093"/>
            <a:ext cx="1234168" cy="511298"/>
          </a:xfrm>
          <a:prstGeom prst="rect">
            <a:avLst/>
          </a:prstGeom>
        </p:spPr>
      </p:pic>
      <p:sp>
        <p:nvSpPr>
          <p:cNvPr id="14" name="Text 4"/>
          <p:cNvSpPr/>
          <p:nvPr/>
        </p:nvSpPr>
        <p:spPr>
          <a:xfrm>
            <a:off x="4651183" y="2839469"/>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04</a:t>
            </a:r>
            <a:endParaRPr lang="en-US" sz="1440" dirty="0">
              <a:latin typeface="Times New Roman" panose="02020603050405020304" pitchFamily="18" charset="0"/>
              <a:cs typeface="Times New Roman" panose="02020603050405020304" pitchFamily="18" charset="0"/>
            </a:endParaRPr>
          </a:p>
        </p:txBody>
      </p:sp>
      <p:sp>
        <p:nvSpPr>
          <p:cNvPr id="15" name="Text 5"/>
          <p:cNvSpPr/>
          <p:nvPr/>
        </p:nvSpPr>
        <p:spPr>
          <a:xfrm>
            <a:off x="1756562" y="925116"/>
            <a:ext cx="2763531"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Quy mô thị trường</a:t>
            </a:r>
            <a:endParaRPr lang="en-US" sz="1440" dirty="0">
              <a:latin typeface="Times New Roman" panose="02020603050405020304" pitchFamily="18" charset="0"/>
              <a:cs typeface="Times New Roman" panose="02020603050405020304" pitchFamily="18" charset="0"/>
            </a:endParaRPr>
          </a:p>
        </p:txBody>
      </p:sp>
      <p:sp>
        <p:nvSpPr>
          <p:cNvPr id="16" name="Text 6"/>
          <p:cNvSpPr/>
          <p:nvPr/>
        </p:nvSpPr>
        <p:spPr>
          <a:xfrm>
            <a:off x="687046" y="1443828"/>
            <a:ext cx="3668337"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Đạt 518.72 triệu USD năm 2025, tăng trưởng 8.2% CAGR đến 2030.</a:t>
            </a:r>
            <a:endParaRPr lang="en-US" sz="1440" dirty="0">
              <a:latin typeface="Times New Roman" panose="02020603050405020304" pitchFamily="18" charset="0"/>
              <a:cs typeface="Times New Roman" panose="02020603050405020304" pitchFamily="18" charset="0"/>
            </a:endParaRPr>
          </a:p>
        </p:txBody>
      </p:sp>
      <p:sp>
        <p:nvSpPr>
          <p:cNvPr id="17" name="Text 7"/>
          <p:cNvSpPr/>
          <p:nvPr/>
        </p:nvSpPr>
        <p:spPr>
          <a:xfrm>
            <a:off x="5894496" y="925116"/>
            <a:ext cx="2754600"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Sản xuất và xuất khẩu</a:t>
            </a:r>
            <a:endParaRPr lang="en-US" sz="1440" dirty="0">
              <a:latin typeface="Times New Roman" panose="02020603050405020304" pitchFamily="18" charset="0"/>
              <a:cs typeface="Times New Roman" panose="02020603050405020304" pitchFamily="18" charset="0"/>
            </a:endParaRPr>
          </a:p>
        </p:txBody>
      </p:sp>
      <p:sp>
        <p:nvSpPr>
          <p:cNvPr id="18" name="Text 8"/>
          <p:cNvSpPr/>
          <p:nvPr/>
        </p:nvSpPr>
        <p:spPr>
          <a:xfrm>
            <a:off x="4815971" y="1443828"/>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31 triệu bao năm 2025/26, hướng tới 8 tỷ USD xuất khẩu.</a:t>
            </a:r>
            <a:endParaRPr lang="en-US" sz="1440" dirty="0">
              <a:latin typeface="Times New Roman" panose="02020603050405020304" pitchFamily="18" charset="0"/>
              <a:cs typeface="Times New Roman" panose="02020603050405020304" pitchFamily="18" charset="0"/>
            </a:endParaRPr>
          </a:p>
        </p:txBody>
      </p:sp>
      <p:sp>
        <p:nvSpPr>
          <p:cNvPr id="19" name="Text 9"/>
          <p:cNvSpPr/>
          <p:nvPr/>
        </p:nvSpPr>
        <p:spPr>
          <a:xfrm>
            <a:off x="1765649" y="2903477"/>
            <a:ext cx="2754600"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Tiêu thụ nội địa</a:t>
            </a:r>
            <a:endParaRPr lang="en-US" sz="1440" dirty="0">
              <a:latin typeface="Times New Roman" panose="02020603050405020304" pitchFamily="18" charset="0"/>
              <a:cs typeface="Times New Roman" panose="02020603050405020304" pitchFamily="18" charset="0"/>
            </a:endParaRPr>
          </a:p>
        </p:txBody>
      </p:sp>
      <p:sp>
        <p:nvSpPr>
          <p:cNvPr id="20" name="Text 10"/>
          <p:cNvSpPr/>
          <p:nvPr/>
        </p:nvSpPr>
        <p:spPr>
          <a:xfrm>
            <a:off x="687124" y="3431333"/>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Đạt 2.5 triệu tấn, với 148.08 triệu kg tiêu thụ tại chỗ.</a:t>
            </a:r>
            <a:endParaRPr lang="en-US" sz="1440" dirty="0">
              <a:latin typeface="Times New Roman" panose="02020603050405020304" pitchFamily="18" charset="0"/>
              <a:cs typeface="Times New Roman" panose="02020603050405020304" pitchFamily="18" charset="0"/>
            </a:endParaRPr>
          </a:p>
        </p:txBody>
      </p:sp>
      <p:sp>
        <p:nvSpPr>
          <p:cNvPr id="21" name="Text 11"/>
          <p:cNvSpPr/>
          <p:nvPr/>
        </p:nvSpPr>
        <p:spPr>
          <a:xfrm>
            <a:off x="5885565" y="2903477"/>
            <a:ext cx="2763531"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Thách thức ngành</a:t>
            </a:r>
            <a:endParaRPr lang="en-US" sz="1440" dirty="0">
              <a:latin typeface="Times New Roman" panose="02020603050405020304" pitchFamily="18" charset="0"/>
              <a:cs typeface="Times New Roman" panose="02020603050405020304" pitchFamily="18" charset="0"/>
            </a:endParaRPr>
          </a:p>
        </p:txBody>
      </p:sp>
      <p:sp>
        <p:nvSpPr>
          <p:cNvPr id="22" name="Text 12"/>
          <p:cNvSpPr/>
          <p:nvPr/>
        </p:nvSpPr>
        <p:spPr>
          <a:xfrm>
            <a:off x="4815893" y="3431333"/>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Cạnh tranh khốc liệt, quản lý hiệu quả là yếu tố quyết định.</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Vấn đề quản lý thủ công</a:t>
            </a:r>
            <a:endParaRPr lang="en-US" sz="144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4"/>
          <a:stretch>
            <a:fillRect/>
          </a:stretch>
        </p:blipFill>
        <p:spPr>
          <a:xfrm flipH="1">
            <a:off x="6031546" y="1234440"/>
            <a:ext cx="2843784" cy="662940"/>
          </a:xfrm>
          <a:prstGeom prst="rect">
            <a:avLst/>
          </a:prstGeom>
        </p:spPr>
      </p:pic>
      <p:pic>
        <p:nvPicPr>
          <p:cNvPr id="4" name="Image 1" descr="preencoded.png"/>
          <p:cNvPicPr>
            <a:picLocks noChangeAspect="1"/>
          </p:cNvPicPr>
          <p:nvPr/>
        </p:nvPicPr>
        <p:blipFill>
          <a:blip r:embed="rId5"/>
          <a:stretch>
            <a:fillRect/>
          </a:stretch>
        </p:blipFill>
        <p:spPr>
          <a:xfrm>
            <a:off x="233923" y="1014984"/>
            <a:ext cx="2850185" cy="662940"/>
          </a:xfrm>
          <a:prstGeom prst="rect">
            <a:avLst/>
          </a:prstGeom>
        </p:spPr>
      </p:pic>
      <p:pic>
        <p:nvPicPr>
          <p:cNvPr id="5" name="Image 2" descr="preencoded.png"/>
          <p:cNvPicPr>
            <a:picLocks noChangeAspect="1"/>
          </p:cNvPicPr>
          <p:nvPr/>
        </p:nvPicPr>
        <p:blipFill>
          <a:blip r:embed="rId6"/>
          <a:stretch>
            <a:fillRect/>
          </a:stretch>
        </p:blipFill>
        <p:spPr>
          <a:xfrm>
            <a:off x="325363" y="2884018"/>
            <a:ext cx="2758745" cy="662940"/>
          </a:xfrm>
          <a:prstGeom prst="rect">
            <a:avLst/>
          </a:prstGeom>
        </p:spPr>
      </p:pic>
      <p:pic>
        <p:nvPicPr>
          <p:cNvPr id="6" name="Image 3" descr="preencoded.png"/>
          <p:cNvPicPr>
            <a:picLocks noChangeAspect="1"/>
          </p:cNvPicPr>
          <p:nvPr/>
        </p:nvPicPr>
        <p:blipFill>
          <a:blip r:embed="rId7"/>
          <a:stretch>
            <a:fillRect/>
          </a:stretch>
        </p:blipFill>
        <p:spPr>
          <a:xfrm flipH="1">
            <a:off x="6031546" y="3103474"/>
            <a:ext cx="2878531" cy="662940"/>
          </a:xfrm>
          <a:prstGeom prst="rect">
            <a:avLst/>
          </a:prstGeom>
        </p:spPr>
      </p:pic>
      <p:sp>
        <p:nvSpPr>
          <p:cNvPr id="7" name="Text 1"/>
          <p:cNvSpPr/>
          <p:nvPr/>
        </p:nvSpPr>
        <p:spPr>
          <a:xfrm>
            <a:off x="498703" y="1163574"/>
            <a:ext cx="2585405" cy="365760"/>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FFFFFF"/>
                </a:solidFill>
                <a:latin typeface="Times New Roman" panose="02020603050405020304" pitchFamily="18" charset="0"/>
                <a:ea typeface="Noto Sans" pitchFamily="34" charset="-122"/>
                <a:cs typeface="Times New Roman" panose="02020603050405020304" pitchFamily="18" charset="0"/>
              </a:rPr>
              <a:t>Quản lý thủ công</a:t>
            </a:r>
            <a:endParaRPr lang="en-US" sz="1440" dirty="0">
              <a:latin typeface="Times New Roman" panose="02020603050405020304" pitchFamily="18" charset="0"/>
              <a:cs typeface="Times New Roman" panose="02020603050405020304" pitchFamily="18" charset="0"/>
            </a:endParaRPr>
          </a:p>
        </p:txBody>
      </p:sp>
      <p:pic>
        <p:nvPicPr>
          <p:cNvPr id="8" name="Image 4" descr="https://oceandoc-ai.obs.ap-southeast-3.myhuaweicloud.com:443/image_1766805005180_2Fr482.jpg"/>
          <p:cNvPicPr>
            <a:picLocks noChangeAspect="1"/>
          </p:cNvPicPr>
          <p:nvPr/>
        </p:nvPicPr>
        <p:blipFill>
          <a:blip r:embed="rId8"/>
          <a:srcRect l="10000" r="10000"/>
          <a:stretch/>
        </p:blipFill>
        <p:spPr>
          <a:xfrm>
            <a:off x="3084108" y="963580"/>
            <a:ext cx="2951991" cy="3689989"/>
          </a:xfrm>
          <a:prstGeom prst="rect">
            <a:avLst/>
          </a:prstGeom>
        </p:spPr>
      </p:pic>
      <p:sp>
        <p:nvSpPr>
          <p:cNvPr id="9" name="Text 2"/>
          <p:cNvSpPr/>
          <p:nvPr/>
        </p:nvSpPr>
        <p:spPr>
          <a:xfrm>
            <a:off x="233923" y="1639519"/>
            <a:ext cx="2850185" cy="502573"/>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kern="0" spc="72" dirty="0">
                <a:solidFill>
                  <a:srgbClr val="00070F"/>
                </a:solidFill>
                <a:latin typeface="Times New Roman" panose="02020603050405020304" pitchFamily="18" charset="0"/>
                <a:ea typeface="Noto Sans" pitchFamily="34" charset="-122"/>
                <a:cs typeface="Times New Roman" panose="02020603050405020304" pitchFamily="18" charset="0"/>
              </a:rPr>
              <a:t>Quán cà phê ghi đơn bằng sổ tay, tính tiền bằng máy tính cầm tay.</a:t>
            </a:r>
            <a:endParaRPr lang="en-US" sz="1440" dirty="0">
              <a:latin typeface="Times New Roman" panose="02020603050405020304" pitchFamily="18" charset="0"/>
              <a:cs typeface="Times New Roman" panose="02020603050405020304" pitchFamily="18" charset="0"/>
            </a:endParaRPr>
          </a:p>
        </p:txBody>
      </p:sp>
      <p:sp>
        <p:nvSpPr>
          <p:cNvPr id="10" name="Text 3"/>
          <p:cNvSpPr/>
          <p:nvPr/>
        </p:nvSpPr>
        <p:spPr>
          <a:xfrm>
            <a:off x="498703" y="3032608"/>
            <a:ext cx="2585405" cy="365760"/>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FFFFFF"/>
                </a:solidFill>
                <a:latin typeface="Times New Roman" panose="02020603050405020304" pitchFamily="18" charset="0"/>
                <a:ea typeface="Noto Sans" pitchFamily="34" charset="-122"/>
                <a:cs typeface="Times New Roman" panose="02020603050405020304" pitchFamily="18" charset="0"/>
              </a:rPr>
              <a:t>Sai sót phổ biến</a:t>
            </a:r>
            <a:endParaRPr lang="en-US" sz="1440" dirty="0">
              <a:latin typeface="Times New Roman" panose="02020603050405020304" pitchFamily="18" charset="0"/>
              <a:cs typeface="Times New Roman" panose="02020603050405020304" pitchFamily="18" charset="0"/>
            </a:endParaRPr>
          </a:p>
        </p:txBody>
      </p:sp>
      <p:sp>
        <p:nvSpPr>
          <p:cNvPr id="11" name="Text 4"/>
          <p:cNvSpPr/>
          <p:nvPr/>
        </p:nvSpPr>
        <p:spPr>
          <a:xfrm>
            <a:off x="325363" y="3519526"/>
            <a:ext cx="2758745" cy="502573"/>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kern="0" spc="72" dirty="0">
                <a:solidFill>
                  <a:srgbClr val="00070F"/>
                </a:solidFill>
                <a:latin typeface="Times New Roman" panose="02020603050405020304" pitchFamily="18" charset="0"/>
                <a:ea typeface="Noto Sans" pitchFamily="34" charset="-122"/>
                <a:cs typeface="Times New Roman" panose="02020603050405020304" pitchFamily="18" charset="0"/>
              </a:rPr>
              <a:t>Lỗi tính toán chiếm 5-10% doanh thu, thời gian xử lý đơn hàng kéo dài.</a:t>
            </a:r>
            <a:endParaRPr lang="en-US" sz="1440" dirty="0">
              <a:latin typeface="Times New Roman" panose="02020603050405020304" pitchFamily="18" charset="0"/>
              <a:cs typeface="Times New Roman" panose="02020603050405020304" pitchFamily="18" charset="0"/>
            </a:endParaRPr>
          </a:p>
        </p:txBody>
      </p:sp>
      <p:sp>
        <p:nvSpPr>
          <p:cNvPr id="12" name="Text 5"/>
          <p:cNvSpPr/>
          <p:nvPr/>
        </p:nvSpPr>
        <p:spPr>
          <a:xfrm>
            <a:off x="6036099" y="1383030"/>
            <a:ext cx="2585009" cy="365760"/>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FFFFFF"/>
                </a:solidFill>
                <a:latin typeface="Times New Roman" panose="02020603050405020304" pitchFamily="18" charset="0"/>
                <a:ea typeface="Noto Sans" pitchFamily="34" charset="-122"/>
                <a:cs typeface="Times New Roman" panose="02020603050405020304" pitchFamily="18" charset="0"/>
              </a:rPr>
              <a:t>Khó kiểm soát</a:t>
            </a:r>
            <a:endParaRPr lang="en-US" sz="1440" dirty="0">
              <a:latin typeface="Times New Roman" panose="02020603050405020304" pitchFamily="18" charset="0"/>
              <a:cs typeface="Times New Roman" panose="02020603050405020304" pitchFamily="18" charset="0"/>
            </a:endParaRPr>
          </a:p>
        </p:txBody>
      </p:sp>
      <p:sp>
        <p:nvSpPr>
          <p:cNvPr id="13" name="Text 6"/>
          <p:cNvSpPr/>
          <p:nvPr/>
        </p:nvSpPr>
        <p:spPr>
          <a:xfrm>
            <a:off x="6036099" y="1858975"/>
            <a:ext cx="2802655"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kern="0" spc="72" dirty="0">
                <a:solidFill>
                  <a:srgbClr val="00070F"/>
                </a:solidFill>
                <a:latin typeface="Times New Roman" panose="02020603050405020304" pitchFamily="18" charset="0"/>
                <a:ea typeface="Noto Sans" pitchFamily="34" charset="-122"/>
                <a:cs typeface="Times New Roman" panose="02020603050405020304" pitchFamily="18" charset="0"/>
              </a:rPr>
              <a:t>Chủ quán khó theo dõi nhân viên, đánh giá hiệu quả kinh doanh.</a:t>
            </a:r>
            <a:endParaRPr lang="en-US" sz="1440" dirty="0">
              <a:latin typeface="Times New Roman" panose="02020603050405020304" pitchFamily="18" charset="0"/>
              <a:cs typeface="Times New Roman" panose="02020603050405020304" pitchFamily="18" charset="0"/>
            </a:endParaRPr>
          </a:p>
        </p:txBody>
      </p:sp>
      <p:sp>
        <p:nvSpPr>
          <p:cNvPr id="14" name="Text 7"/>
          <p:cNvSpPr/>
          <p:nvPr/>
        </p:nvSpPr>
        <p:spPr>
          <a:xfrm>
            <a:off x="6031546" y="3252064"/>
            <a:ext cx="2589562" cy="365760"/>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FFFFFF"/>
                </a:solidFill>
                <a:latin typeface="Times New Roman" panose="02020603050405020304" pitchFamily="18" charset="0"/>
                <a:ea typeface="Noto Sans" pitchFamily="34" charset="-122"/>
                <a:cs typeface="Times New Roman" panose="02020603050405020304" pitchFamily="18" charset="0"/>
              </a:rPr>
              <a:t>Mất khách hàng</a:t>
            </a:r>
            <a:endParaRPr lang="en-US" sz="1440" dirty="0">
              <a:latin typeface="Times New Roman" panose="02020603050405020304" pitchFamily="18" charset="0"/>
              <a:cs typeface="Times New Roman" panose="02020603050405020304" pitchFamily="18" charset="0"/>
            </a:endParaRPr>
          </a:p>
        </p:txBody>
      </p:sp>
      <p:sp>
        <p:nvSpPr>
          <p:cNvPr id="15" name="Text 8"/>
          <p:cNvSpPr/>
          <p:nvPr/>
        </p:nvSpPr>
        <p:spPr>
          <a:xfrm>
            <a:off x="6031546" y="3738982"/>
            <a:ext cx="287853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kern="0" spc="72" dirty="0">
                <a:solidFill>
                  <a:srgbClr val="00070F"/>
                </a:solidFill>
                <a:latin typeface="Times New Roman" panose="02020603050405020304" pitchFamily="18" charset="0"/>
                <a:ea typeface="Noto Sans" pitchFamily="34" charset="-122"/>
                <a:cs typeface="Times New Roman" panose="02020603050405020304" pitchFamily="18" charset="0"/>
              </a:rPr>
              <a:t>Dịch vụ chậm, thiếu chính xác dẫn đến giảm lợi nhuận.</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Mất 5-10% doanh thu hàng ngày</a:t>
            </a:r>
            <a:endParaRPr lang="en-US" sz="144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4"/>
          <a:stretch>
            <a:fillRect/>
          </a:stretch>
        </p:blipFill>
        <p:spPr>
          <a:xfrm>
            <a:off x="2476119" y="2074006"/>
            <a:ext cx="2271826" cy="1298186"/>
          </a:xfrm>
          <a:prstGeom prst="rect">
            <a:avLst/>
          </a:prstGeom>
        </p:spPr>
      </p:pic>
      <p:sp>
        <p:nvSpPr>
          <p:cNvPr id="4" name="Shape 1"/>
          <p:cNvSpPr/>
          <p:nvPr/>
        </p:nvSpPr>
        <p:spPr>
          <a:xfrm>
            <a:off x="1552494" y="2480310"/>
            <a:ext cx="890007" cy="890007"/>
          </a:xfrm>
          <a:custGeom>
            <a:avLst/>
            <a:gdLst/>
            <a:ahLst/>
            <a:cxnLst/>
            <a:rect l="l" t="t" r="r" b="b"/>
            <a:pathLst>
              <a:path w="890007" h="890007">
                <a:moveTo>
                  <a:pt x="445004" y="0"/>
                </a:moveTo>
                <a:moveTo>
                  <a:pt x="445004" y="0"/>
                </a:moveTo>
                <a:cubicBezTo>
                  <a:pt x="690608" y="0"/>
                  <a:pt x="890007" y="199399"/>
                  <a:pt x="890007" y="445004"/>
                </a:cubicBezTo>
                <a:cubicBezTo>
                  <a:pt x="890007" y="690608"/>
                  <a:pt x="690608" y="890007"/>
                  <a:pt x="445004" y="890007"/>
                </a:cubicBezTo>
                <a:cubicBezTo>
                  <a:pt x="199399" y="890007"/>
                  <a:pt x="0" y="690608"/>
                  <a:pt x="0" y="445004"/>
                </a:cubicBezTo>
                <a:cubicBezTo>
                  <a:pt x="0" y="199399"/>
                  <a:pt x="199399" y="0"/>
                  <a:pt x="445004"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5" name="Image 1" descr="preencoded.png"/>
          <p:cNvPicPr>
            <a:picLocks noChangeAspect="1"/>
          </p:cNvPicPr>
          <p:nvPr/>
        </p:nvPicPr>
        <p:blipFill>
          <a:blip r:embed="rId5"/>
          <a:stretch>
            <a:fillRect/>
          </a:stretch>
        </p:blipFill>
        <p:spPr>
          <a:xfrm>
            <a:off x="1768097" y="2695913"/>
            <a:ext cx="458801" cy="458801"/>
          </a:xfrm>
          <a:prstGeom prst="rect">
            <a:avLst/>
          </a:prstGeom>
        </p:spPr>
      </p:pic>
      <p:sp>
        <p:nvSpPr>
          <p:cNvPr id="6" name="Shape 2"/>
          <p:cNvSpPr/>
          <p:nvPr/>
        </p:nvSpPr>
        <p:spPr>
          <a:xfrm>
            <a:off x="6701499" y="2480310"/>
            <a:ext cx="890007" cy="890007"/>
          </a:xfrm>
          <a:custGeom>
            <a:avLst/>
            <a:gdLst/>
            <a:ahLst/>
            <a:cxnLst/>
            <a:rect l="l" t="t" r="r" b="b"/>
            <a:pathLst>
              <a:path w="890007" h="890007">
                <a:moveTo>
                  <a:pt x="445004" y="0"/>
                </a:moveTo>
                <a:moveTo>
                  <a:pt x="445004" y="0"/>
                </a:moveTo>
                <a:cubicBezTo>
                  <a:pt x="690608" y="0"/>
                  <a:pt x="890007" y="199399"/>
                  <a:pt x="890007" y="445004"/>
                </a:cubicBezTo>
                <a:cubicBezTo>
                  <a:pt x="890007" y="690608"/>
                  <a:pt x="690608" y="890007"/>
                  <a:pt x="445004" y="890007"/>
                </a:cubicBezTo>
                <a:cubicBezTo>
                  <a:pt x="199399" y="890007"/>
                  <a:pt x="0" y="690608"/>
                  <a:pt x="0" y="445004"/>
                </a:cubicBezTo>
                <a:cubicBezTo>
                  <a:pt x="0" y="199399"/>
                  <a:pt x="199399" y="0"/>
                  <a:pt x="445004" y="0"/>
                </a:cubicBezTo>
                <a:close/>
              </a:path>
            </a:pathLst>
          </a:custGeom>
          <a:solidFill>
            <a:srgbClr val="9B6047">
              <a:alpha val="12941"/>
            </a:srgbClr>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6"/>
          <a:stretch>
            <a:fillRect/>
          </a:stretch>
        </p:blipFill>
        <p:spPr>
          <a:xfrm rot="10800000" flipV="1">
            <a:off x="4429673" y="2074006"/>
            <a:ext cx="2271826" cy="1298186"/>
          </a:xfrm>
          <a:prstGeom prst="rect">
            <a:avLst/>
          </a:prstGeom>
        </p:spPr>
      </p:pic>
      <p:pic>
        <p:nvPicPr>
          <p:cNvPr id="8" name="Image 3" descr="preencoded.png"/>
          <p:cNvPicPr>
            <a:picLocks noChangeAspect="1"/>
          </p:cNvPicPr>
          <p:nvPr/>
        </p:nvPicPr>
        <p:blipFill>
          <a:blip r:embed="rId7"/>
          <a:stretch>
            <a:fillRect/>
          </a:stretch>
        </p:blipFill>
        <p:spPr>
          <a:xfrm>
            <a:off x="6943590" y="2722401"/>
            <a:ext cx="405824" cy="405824"/>
          </a:xfrm>
          <a:prstGeom prst="rect">
            <a:avLst/>
          </a:prstGeom>
        </p:spPr>
      </p:pic>
      <p:sp>
        <p:nvSpPr>
          <p:cNvPr id="9" name="Text 3"/>
          <p:cNvSpPr/>
          <p:nvPr/>
        </p:nvSpPr>
        <p:spPr>
          <a:xfrm>
            <a:off x="241511" y="889791"/>
            <a:ext cx="3370521"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Lỗi tính toán thủ công</a:t>
            </a:r>
            <a:endParaRPr lang="en-US" sz="1440" dirty="0">
              <a:latin typeface="Times New Roman" panose="02020603050405020304" pitchFamily="18" charset="0"/>
              <a:cs typeface="Times New Roman" panose="02020603050405020304" pitchFamily="18" charset="0"/>
            </a:endParaRPr>
          </a:p>
        </p:txBody>
      </p:sp>
      <p:sp>
        <p:nvSpPr>
          <p:cNvPr id="10" name="Text 4"/>
          <p:cNvSpPr/>
          <p:nvPr/>
        </p:nvSpPr>
        <p:spPr>
          <a:xfrm>
            <a:off x="241511" y="1378983"/>
            <a:ext cx="3370521" cy="502573"/>
          </a:xfrm>
          <a:prstGeom prst="rect">
            <a:avLst/>
          </a:prstGeom>
          <a:noFill/>
          <a:ln/>
        </p:spPr>
        <p:txBody>
          <a:bodyPr wrap="square" lIns="95250" tIns="95250" rIns="95250" bIns="95250" rtlCol="0" anchor="t">
            <a:spAutoFit/>
          </a:bodyPr>
          <a:lstStyle/>
          <a:p>
            <a:pPr marL="0" indent="0" algn="r">
              <a:lnSpc>
                <a:spcPct val="100000"/>
              </a:lnSpc>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Ghi chép sổ sách gây sai sót, ảnh hưởng doanh thu quán cà phê.</a:t>
            </a:r>
            <a:endParaRPr lang="en-US" sz="1440" dirty="0">
              <a:latin typeface="Times New Roman" panose="02020603050405020304" pitchFamily="18" charset="0"/>
              <a:cs typeface="Times New Roman" panose="02020603050405020304" pitchFamily="18" charset="0"/>
            </a:endParaRPr>
          </a:p>
        </p:txBody>
      </p:sp>
      <p:sp>
        <p:nvSpPr>
          <p:cNvPr id="11" name="Text 5"/>
          <p:cNvSpPr/>
          <p:nvPr/>
        </p:nvSpPr>
        <p:spPr>
          <a:xfrm>
            <a:off x="5533525" y="889813"/>
            <a:ext cx="3390968"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Quản lý rời rạc</a:t>
            </a:r>
            <a:endParaRPr lang="en-US" sz="1440" dirty="0">
              <a:latin typeface="Times New Roman" panose="02020603050405020304" pitchFamily="18" charset="0"/>
              <a:cs typeface="Times New Roman" panose="02020603050405020304" pitchFamily="18" charset="0"/>
            </a:endParaRPr>
          </a:p>
        </p:txBody>
      </p:sp>
      <p:sp>
        <p:nvSpPr>
          <p:cNvPr id="12" name="Text 6"/>
          <p:cNvSpPr/>
          <p:nvPr/>
        </p:nvSpPr>
        <p:spPr>
          <a:xfrm>
            <a:off x="5565586" y="1378983"/>
            <a:ext cx="3390968"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Thiếu hệ thống tập trung gây khó kiểm soát nhân viên và hoạt động.</a:t>
            </a:r>
            <a:endParaRPr lang="en-US" sz="1440" dirty="0">
              <a:latin typeface="Times New Roman" panose="02020603050405020304" pitchFamily="18" charset="0"/>
              <a:cs typeface="Times New Roman" panose="02020603050405020304" pitchFamily="18" charset="0"/>
            </a:endParaRPr>
          </a:p>
        </p:txBody>
      </p:sp>
      <p:sp>
        <p:nvSpPr>
          <p:cNvPr id="13" name="Text 7"/>
          <p:cNvSpPr/>
          <p:nvPr/>
        </p:nvSpPr>
        <p:spPr>
          <a:xfrm>
            <a:off x="241511" y="3372192"/>
            <a:ext cx="3370521"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Dịch vụ chậm</a:t>
            </a:r>
            <a:endParaRPr lang="en-US" sz="1440" dirty="0">
              <a:latin typeface="Times New Roman" panose="02020603050405020304" pitchFamily="18" charset="0"/>
              <a:cs typeface="Times New Roman" panose="02020603050405020304" pitchFamily="18" charset="0"/>
            </a:endParaRPr>
          </a:p>
        </p:txBody>
      </p:sp>
      <p:sp>
        <p:nvSpPr>
          <p:cNvPr id="14" name="Text 8"/>
          <p:cNvSpPr/>
          <p:nvPr/>
        </p:nvSpPr>
        <p:spPr>
          <a:xfrm>
            <a:off x="241511" y="3774528"/>
            <a:ext cx="3370521" cy="347467"/>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Xử lý đơn hàng thủ công làm giảm trải nghiệm khách hàng.</a:t>
            </a:r>
            <a:endParaRPr lang="en-US" sz="1440" dirty="0">
              <a:latin typeface="Times New Roman" panose="02020603050405020304" pitchFamily="18" charset="0"/>
              <a:cs typeface="Times New Roman" panose="02020603050405020304" pitchFamily="18" charset="0"/>
            </a:endParaRPr>
          </a:p>
        </p:txBody>
      </p:sp>
      <p:sp>
        <p:nvSpPr>
          <p:cNvPr id="15" name="Text 9"/>
          <p:cNvSpPr/>
          <p:nvPr/>
        </p:nvSpPr>
        <p:spPr>
          <a:xfrm>
            <a:off x="5570108" y="3372192"/>
            <a:ext cx="3354385"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Báo cáo không chính xác</a:t>
            </a:r>
            <a:endParaRPr lang="en-US" sz="1440" dirty="0">
              <a:latin typeface="Times New Roman" panose="02020603050405020304" pitchFamily="18" charset="0"/>
              <a:cs typeface="Times New Roman" panose="02020603050405020304" pitchFamily="18" charset="0"/>
            </a:endParaRPr>
          </a:p>
        </p:txBody>
      </p:sp>
      <p:sp>
        <p:nvSpPr>
          <p:cNvPr id="16" name="Text 10"/>
          <p:cNvSpPr/>
          <p:nvPr/>
        </p:nvSpPr>
        <p:spPr>
          <a:xfrm>
            <a:off x="5565586" y="3774528"/>
            <a:ext cx="3390968"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Thống kê thủ công gây khó khăn đưa ra quyết định kinh doanh.</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Tự động hóa quy trình chính</a:t>
            </a:r>
            <a:endParaRPr lang="en-US" sz="144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4"/>
          <a:stretch>
            <a:fillRect/>
          </a:stretch>
        </p:blipFill>
        <p:spPr>
          <a:xfrm>
            <a:off x="280413" y="1094454"/>
            <a:ext cx="4197816" cy="1679126"/>
          </a:xfrm>
          <a:prstGeom prst="rect">
            <a:avLst/>
          </a:prstGeom>
        </p:spPr>
      </p:pic>
      <p:sp>
        <p:nvSpPr>
          <p:cNvPr id="4" name="Text 1"/>
          <p:cNvSpPr/>
          <p:nvPr/>
        </p:nvSpPr>
        <p:spPr>
          <a:xfrm>
            <a:off x="280413" y="1094454"/>
            <a:ext cx="4197816" cy="1679126"/>
          </a:xfrm>
          <a:prstGeom prst="rect">
            <a:avLst/>
          </a:prstGeom>
          <a:noFill/>
          <a:ln/>
        </p:spPr>
        <p:txBody>
          <a:bodyPr wrap="square" rtlCol="0" anchor="ctr"/>
          <a:lstStyle/>
          <a:p>
            <a:pPr marL="0" indent="0">
              <a:spcBef>
                <a:spcPts val="375"/>
              </a:spcBef>
              <a:buNone/>
            </a:pPr>
            <a:endParaRPr lang="en-US" sz="1440" dirty="0">
              <a:latin typeface="Times New Roman" panose="02020603050405020304" pitchFamily="18" charset="0"/>
              <a:cs typeface="Times New Roman" panose="02020603050405020304" pitchFamily="18" charset="0"/>
            </a:endParaRPr>
          </a:p>
        </p:txBody>
      </p:sp>
      <p:sp>
        <p:nvSpPr>
          <p:cNvPr id="5" name="Shape 2"/>
          <p:cNvSpPr/>
          <p:nvPr/>
        </p:nvSpPr>
        <p:spPr>
          <a:xfrm>
            <a:off x="1986677" y="1879153"/>
            <a:ext cx="500957" cy="0"/>
          </a:xfrm>
          <a:custGeom>
            <a:avLst/>
            <a:gdLst/>
            <a:ahLst/>
            <a:cxnLst/>
            <a:rect l="l" t="t" r="r" b="b"/>
            <a:pathLst>
              <a:path w="500957">
                <a:moveTo>
                  <a:pt x="0" y="0"/>
                </a:moveTo>
                <a:moveTo>
                  <a:pt x="0" y="0"/>
                </a:moveTo>
                <a:lnTo>
                  <a:pt x="500957" y="0"/>
                </a:lnTo>
              </a:path>
            </a:pathLst>
          </a:custGeom>
          <a:noFill/>
          <a:ln w="38100">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5"/>
          <a:stretch>
            <a:fillRect/>
          </a:stretch>
        </p:blipFill>
        <p:spPr>
          <a:xfrm>
            <a:off x="4665771" y="1094454"/>
            <a:ext cx="4197816" cy="1679126"/>
          </a:xfrm>
          <a:prstGeom prst="rect">
            <a:avLst/>
          </a:prstGeom>
        </p:spPr>
      </p:pic>
      <p:sp>
        <p:nvSpPr>
          <p:cNvPr id="7" name="Text 3"/>
          <p:cNvSpPr/>
          <p:nvPr/>
        </p:nvSpPr>
        <p:spPr>
          <a:xfrm>
            <a:off x="4665771" y="1094454"/>
            <a:ext cx="4197816" cy="1679126"/>
          </a:xfrm>
          <a:prstGeom prst="rect">
            <a:avLst/>
          </a:prstGeom>
          <a:noFill/>
          <a:ln/>
        </p:spPr>
        <p:txBody>
          <a:bodyPr wrap="square" rtlCol="0" anchor="ctr"/>
          <a:lstStyle/>
          <a:p>
            <a:pPr marL="0" indent="0">
              <a:spcBef>
                <a:spcPts val="375"/>
              </a:spcBef>
              <a:buNone/>
            </a:pPr>
            <a:endParaRPr lang="en-US" sz="1440" dirty="0">
              <a:latin typeface="Times New Roman" panose="02020603050405020304" pitchFamily="18" charset="0"/>
              <a:cs typeface="Times New Roman" panose="02020603050405020304" pitchFamily="18" charset="0"/>
            </a:endParaRPr>
          </a:p>
        </p:txBody>
      </p:sp>
      <p:sp>
        <p:nvSpPr>
          <p:cNvPr id="8" name="Shape 4"/>
          <p:cNvSpPr/>
          <p:nvPr/>
        </p:nvSpPr>
        <p:spPr>
          <a:xfrm>
            <a:off x="6372035" y="1879153"/>
            <a:ext cx="500957" cy="0"/>
          </a:xfrm>
          <a:custGeom>
            <a:avLst/>
            <a:gdLst/>
            <a:ahLst/>
            <a:cxnLst/>
            <a:rect l="l" t="t" r="r" b="b"/>
            <a:pathLst>
              <a:path w="500957">
                <a:moveTo>
                  <a:pt x="0" y="0"/>
                </a:moveTo>
                <a:moveTo>
                  <a:pt x="0" y="0"/>
                </a:moveTo>
                <a:lnTo>
                  <a:pt x="500957" y="0"/>
                </a:lnTo>
              </a:path>
            </a:pathLst>
          </a:custGeom>
          <a:noFill/>
          <a:ln w="38100">
            <a:solidFill>
              <a:srgbClr val="CC6B38"/>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280413" y="2923908"/>
            <a:ext cx="4197816" cy="1679126"/>
          </a:xfrm>
          <a:prstGeom prst="rect">
            <a:avLst/>
          </a:prstGeom>
        </p:spPr>
      </p:pic>
      <p:sp>
        <p:nvSpPr>
          <p:cNvPr id="10" name="Text 5"/>
          <p:cNvSpPr/>
          <p:nvPr/>
        </p:nvSpPr>
        <p:spPr>
          <a:xfrm>
            <a:off x="280413" y="2923908"/>
            <a:ext cx="4197816" cy="1679126"/>
          </a:xfrm>
          <a:prstGeom prst="rect">
            <a:avLst/>
          </a:prstGeom>
          <a:noFill/>
          <a:ln/>
        </p:spPr>
        <p:txBody>
          <a:bodyPr wrap="square" rtlCol="0" anchor="ctr"/>
          <a:lstStyle/>
          <a:p>
            <a:pPr marL="0" indent="0">
              <a:spcBef>
                <a:spcPts val="375"/>
              </a:spcBef>
              <a:buNone/>
            </a:pPr>
            <a:endParaRPr lang="en-US" sz="1440" dirty="0">
              <a:latin typeface="Times New Roman" panose="02020603050405020304" pitchFamily="18" charset="0"/>
              <a:cs typeface="Times New Roman" panose="02020603050405020304" pitchFamily="18" charset="0"/>
            </a:endParaRPr>
          </a:p>
        </p:txBody>
      </p:sp>
      <p:sp>
        <p:nvSpPr>
          <p:cNvPr id="11" name="Shape 6"/>
          <p:cNvSpPr/>
          <p:nvPr/>
        </p:nvSpPr>
        <p:spPr>
          <a:xfrm>
            <a:off x="1986677" y="3708608"/>
            <a:ext cx="500957" cy="0"/>
          </a:xfrm>
          <a:custGeom>
            <a:avLst/>
            <a:gdLst/>
            <a:ahLst/>
            <a:cxnLst/>
            <a:rect l="l" t="t" r="r" b="b"/>
            <a:pathLst>
              <a:path w="500957">
                <a:moveTo>
                  <a:pt x="0" y="0"/>
                </a:moveTo>
                <a:moveTo>
                  <a:pt x="0" y="0"/>
                </a:moveTo>
                <a:lnTo>
                  <a:pt x="500957" y="0"/>
                </a:lnTo>
              </a:path>
            </a:pathLst>
          </a:custGeom>
          <a:noFill/>
          <a:ln w="38100">
            <a:solidFill>
              <a:srgbClr val="CC6B38"/>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r:embed="rId4"/>
          <a:stretch>
            <a:fillRect/>
          </a:stretch>
        </p:blipFill>
        <p:spPr>
          <a:xfrm>
            <a:off x="4665771" y="2923908"/>
            <a:ext cx="4197816" cy="1679126"/>
          </a:xfrm>
          <a:prstGeom prst="rect">
            <a:avLst/>
          </a:prstGeom>
        </p:spPr>
      </p:pic>
      <p:sp>
        <p:nvSpPr>
          <p:cNvPr id="13" name="Text 7"/>
          <p:cNvSpPr/>
          <p:nvPr/>
        </p:nvSpPr>
        <p:spPr>
          <a:xfrm>
            <a:off x="4665771" y="2923908"/>
            <a:ext cx="4197816" cy="1679126"/>
          </a:xfrm>
          <a:prstGeom prst="rect">
            <a:avLst/>
          </a:prstGeom>
          <a:noFill/>
          <a:ln/>
        </p:spPr>
        <p:txBody>
          <a:bodyPr wrap="square" rtlCol="0" anchor="ctr"/>
          <a:lstStyle/>
          <a:p>
            <a:pPr marL="0" indent="0">
              <a:spcBef>
                <a:spcPts val="375"/>
              </a:spcBef>
              <a:buNone/>
            </a:pPr>
            <a:endParaRPr lang="en-US" sz="1440" dirty="0">
              <a:latin typeface="Times New Roman" panose="02020603050405020304" pitchFamily="18" charset="0"/>
              <a:cs typeface="Times New Roman" panose="02020603050405020304" pitchFamily="18" charset="0"/>
            </a:endParaRPr>
          </a:p>
        </p:txBody>
      </p:sp>
      <p:sp>
        <p:nvSpPr>
          <p:cNvPr id="14" name="Shape 8"/>
          <p:cNvSpPr/>
          <p:nvPr/>
        </p:nvSpPr>
        <p:spPr>
          <a:xfrm>
            <a:off x="6372035" y="3708608"/>
            <a:ext cx="500957" cy="0"/>
          </a:xfrm>
          <a:custGeom>
            <a:avLst/>
            <a:gdLst/>
            <a:ahLst/>
            <a:cxnLst/>
            <a:rect l="l" t="t" r="r" b="b"/>
            <a:pathLst>
              <a:path w="500957">
                <a:moveTo>
                  <a:pt x="0" y="0"/>
                </a:moveTo>
                <a:moveTo>
                  <a:pt x="0" y="0"/>
                </a:moveTo>
                <a:lnTo>
                  <a:pt x="500957" y="0"/>
                </a:lnTo>
              </a:path>
            </a:pathLst>
          </a:custGeom>
          <a:noFill/>
          <a:ln w="38100">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9"/>
          <p:cNvSpPr/>
          <p:nvPr/>
        </p:nvSpPr>
        <p:spPr>
          <a:xfrm>
            <a:off x="1867805" y="1402028"/>
            <a:ext cx="2358031" cy="37796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Quản lý sản phẩm</a:t>
            </a:r>
            <a:endParaRPr lang="en-US" sz="1440" dirty="0">
              <a:latin typeface="Times New Roman" panose="02020603050405020304" pitchFamily="18" charset="0"/>
              <a:cs typeface="Times New Roman" panose="02020603050405020304" pitchFamily="18" charset="0"/>
            </a:endParaRPr>
          </a:p>
        </p:txBody>
      </p:sp>
      <p:pic>
        <p:nvPicPr>
          <p:cNvPr id="16" name="Image 4" descr="https://oceandoc-ai.obs.ap-southeast-3.myhuaweicloud.com:443/image_1766805010002_ip32dp.jpg"/>
          <p:cNvPicPr>
            <a:picLocks noChangeAspect="1"/>
          </p:cNvPicPr>
          <p:nvPr/>
        </p:nvPicPr>
        <p:blipFill>
          <a:blip r:embed="rId6"/>
          <a:srcRect/>
          <a:stretch/>
        </p:blipFill>
        <p:spPr>
          <a:xfrm>
            <a:off x="502585" y="1482604"/>
            <a:ext cx="1005840" cy="1005840"/>
          </a:xfrm>
          <a:prstGeom prst="ellipse">
            <a:avLst/>
          </a:prstGeom>
        </p:spPr>
      </p:pic>
      <p:sp>
        <p:nvSpPr>
          <p:cNvPr id="17" name="Text 10"/>
          <p:cNvSpPr/>
          <p:nvPr/>
        </p:nvSpPr>
        <p:spPr>
          <a:xfrm>
            <a:off x="1867805" y="1891691"/>
            <a:ext cx="24704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Thêm, sửa, xóa thông tin sản phẩm trong menu quán cà phê.</a:t>
            </a:r>
            <a:endParaRPr lang="en-US" sz="1440" dirty="0">
              <a:latin typeface="Times New Roman" panose="02020603050405020304" pitchFamily="18" charset="0"/>
              <a:cs typeface="Times New Roman" panose="02020603050405020304" pitchFamily="18" charset="0"/>
            </a:endParaRPr>
          </a:p>
        </p:txBody>
      </p:sp>
      <p:sp>
        <p:nvSpPr>
          <p:cNvPr id="18" name="Text 11"/>
          <p:cNvSpPr/>
          <p:nvPr/>
        </p:nvSpPr>
        <p:spPr>
          <a:xfrm>
            <a:off x="6253163" y="1402028"/>
            <a:ext cx="2358031" cy="37796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Xử lý đơn hàng</a:t>
            </a:r>
            <a:endParaRPr lang="en-US" sz="1440" dirty="0">
              <a:latin typeface="Times New Roman" panose="02020603050405020304" pitchFamily="18" charset="0"/>
              <a:cs typeface="Times New Roman" panose="02020603050405020304" pitchFamily="18" charset="0"/>
            </a:endParaRPr>
          </a:p>
        </p:txBody>
      </p:sp>
      <p:pic>
        <p:nvPicPr>
          <p:cNvPr id="19" name="Image 5" descr="https://oceandoc-ai.obs.ap-southeast-3.myhuaweicloud.com:443/image_1766805012973_Tx06yk.jpg"/>
          <p:cNvPicPr>
            <a:picLocks noChangeAspect="1"/>
          </p:cNvPicPr>
          <p:nvPr/>
        </p:nvPicPr>
        <p:blipFill>
          <a:blip r:embed="rId7"/>
          <a:srcRect/>
          <a:stretch/>
        </p:blipFill>
        <p:spPr>
          <a:xfrm>
            <a:off x="4887942" y="1482604"/>
            <a:ext cx="1005840" cy="1005840"/>
          </a:xfrm>
          <a:prstGeom prst="ellipse">
            <a:avLst/>
          </a:prstGeom>
        </p:spPr>
      </p:pic>
      <p:sp>
        <p:nvSpPr>
          <p:cNvPr id="20" name="Text 12"/>
          <p:cNvSpPr/>
          <p:nvPr/>
        </p:nvSpPr>
        <p:spPr>
          <a:xfrm>
            <a:off x="6253163" y="1891691"/>
            <a:ext cx="24704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Nhân viên duyệt đơn, cập nhật trạng thái và định danh người bán.</a:t>
            </a:r>
            <a:endParaRPr lang="en-US" sz="1440" dirty="0">
              <a:latin typeface="Times New Roman" panose="02020603050405020304" pitchFamily="18" charset="0"/>
              <a:cs typeface="Times New Roman" panose="02020603050405020304" pitchFamily="18" charset="0"/>
            </a:endParaRPr>
          </a:p>
        </p:txBody>
      </p:sp>
      <p:sp>
        <p:nvSpPr>
          <p:cNvPr id="21" name="Text 13"/>
          <p:cNvSpPr/>
          <p:nvPr/>
        </p:nvSpPr>
        <p:spPr>
          <a:xfrm>
            <a:off x="1867805" y="3231483"/>
            <a:ext cx="2358031" cy="37796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Thanh toán</a:t>
            </a:r>
            <a:endParaRPr lang="en-US" sz="1440" dirty="0">
              <a:latin typeface="Times New Roman" panose="02020603050405020304" pitchFamily="18" charset="0"/>
              <a:cs typeface="Times New Roman" panose="02020603050405020304" pitchFamily="18" charset="0"/>
            </a:endParaRPr>
          </a:p>
        </p:txBody>
      </p:sp>
      <p:pic>
        <p:nvPicPr>
          <p:cNvPr id="22" name="Image 6" descr="https://oceandoc-ai.obs.ap-southeast-3.myhuaweicloud.com:443/image_1766805016459_a51oBd.jpg"/>
          <p:cNvPicPr>
            <a:picLocks noChangeAspect="1"/>
          </p:cNvPicPr>
          <p:nvPr/>
        </p:nvPicPr>
        <p:blipFill>
          <a:blip r:embed="rId8"/>
          <a:srcRect/>
          <a:stretch/>
        </p:blipFill>
        <p:spPr>
          <a:xfrm>
            <a:off x="502585" y="3312058"/>
            <a:ext cx="1005840" cy="1005840"/>
          </a:xfrm>
          <a:prstGeom prst="ellipse">
            <a:avLst/>
          </a:prstGeom>
        </p:spPr>
      </p:pic>
      <p:sp>
        <p:nvSpPr>
          <p:cNvPr id="23" name="Text 14"/>
          <p:cNvSpPr/>
          <p:nvPr/>
        </p:nvSpPr>
        <p:spPr>
          <a:xfrm>
            <a:off x="1867805" y="3721146"/>
            <a:ext cx="24704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Tính tổng tiền tự động, giảm tồn kho và lưu hóa đơn.</a:t>
            </a:r>
            <a:endParaRPr lang="en-US" sz="1440" dirty="0">
              <a:latin typeface="Times New Roman" panose="02020603050405020304" pitchFamily="18" charset="0"/>
              <a:cs typeface="Times New Roman" panose="02020603050405020304" pitchFamily="18" charset="0"/>
            </a:endParaRPr>
          </a:p>
        </p:txBody>
      </p:sp>
      <p:sp>
        <p:nvSpPr>
          <p:cNvPr id="24" name="Text 15"/>
          <p:cNvSpPr/>
          <p:nvPr/>
        </p:nvSpPr>
        <p:spPr>
          <a:xfrm>
            <a:off x="6253163" y="3231483"/>
            <a:ext cx="2358031" cy="37796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Báo cáo doanh thu</a:t>
            </a:r>
            <a:endParaRPr lang="en-US" sz="1440" dirty="0">
              <a:latin typeface="Times New Roman" panose="02020603050405020304" pitchFamily="18" charset="0"/>
              <a:cs typeface="Times New Roman" panose="02020603050405020304" pitchFamily="18" charset="0"/>
            </a:endParaRPr>
          </a:p>
        </p:txBody>
      </p:sp>
      <p:pic>
        <p:nvPicPr>
          <p:cNvPr id="25" name="Image 7" descr="https://oceandoc-ai.obs.ap-southeast-3.myhuaweicloud.com:443/image_1766805020076_3L3ZFm.jpg"/>
          <p:cNvPicPr>
            <a:picLocks noChangeAspect="1"/>
          </p:cNvPicPr>
          <p:nvPr/>
        </p:nvPicPr>
        <p:blipFill>
          <a:blip r:embed="rId9"/>
          <a:srcRect/>
          <a:stretch/>
        </p:blipFill>
        <p:spPr>
          <a:xfrm>
            <a:off x="4887942" y="3312058"/>
            <a:ext cx="1005840" cy="1005840"/>
          </a:xfrm>
          <a:prstGeom prst="ellipse">
            <a:avLst/>
          </a:prstGeom>
        </p:spPr>
      </p:pic>
      <p:sp>
        <p:nvSpPr>
          <p:cNvPr id="26" name="Text 16"/>
          <p:cNvSpPr/>
          <p:nvPr/>
        </p:nvSpPr>
        <p:spPr>
          <a:xfrm>
            <a:off x="6253163" y="3721146"/>
            <a:ext cx="24704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Thống kê theo ngày, tháng với biểu đồ trực quan.</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92758" y="2423561"/>
            <a:ext cx="3799379" cy="539496"/>
          </a:xfrm>
          <a:prstGeom prst="rect">
            <a:avLst/>
          </a:prstGeom>
          <a:noFill/>
          <a:ln/>
        </p:spPr>
        <p:txBody>
          <a:bodyPr wrap="square" lIns="95250" tIns="95250" rIns="95250" bIns="95250" rtlCol="0" anchor="t"/>
          <a:lstStyle/>
          <a:p>
            <a:pPr marL="0" indent="0" algn="ctr">
              <a:lnSpc>
                <a:spcPct val="100000"/>
              </a:lnSpc>
              <a:spcBef>
                <a:spcPts val="375"/>
              </a:spcBef>
              <a:buNone/>
            </a:pPr>
            <a:r>
              <a:rPr lang="en-US" sz="2304" b="1" dirty="0">
                <a:solidFill>
                  <a:srgbClr val="FFFFFF"/>
                </a:solidFill>
                <a:latin typeface="Times New Roman" panose="02020603050405020304" pitchFamily="18" charset="0"/>
                <a:ea typeface="Noto Sans" pitchFamily="34" charset="-122"/>
                <a:cs typeface="Times New Roman" panose="02020603050405020304" pitchFamily="18" charset="0"/>
              </a:rPr>
              <a:t>Kiến trúc hệ thống POS</a:t>
            </a:r>
            <a:endParaRPr lang="en-US" sz="1440" dirty="0">
              <a:latin typeface="Times New Roman" panose="02020603050405020304" pitchFamily="18" charset="0"/>
              <a:cs typeface="Times New Roman" panose="02020603050405020304" pitchFamily="18" charset="0"/>
            </a:endParaRPr>
          </a:p>
        </p:txBody>
      </p:sp>
      <p:sp>
        <p:nvSpPr>
          <p:cNvPr id="3" name="Text 1"/>
          <p:cNvSpPr/>
          <p:nvPr/>
        </p:nvSpPr>
        <p:spPr>
          <a:xfrm>
            <a:off x="3276144" y="1127701"/>
            <a:ext cx="2591713" cy="1421287"/>
          </a:xfrm>
          <a:prstGeom prst="rect">
            <a:avLst/>
          </a:prstGeom>
          <a:noFill/>
          <a:ln/>
        </p:spPr>
        <p:txBody>
          <a:bodyPr wrap="square" lIns="95250" tIns="95250" rIns="95250" bIns="95250" rtlCol="0" anchor="ctr">
            <a:spAutoFit/>
          </a:bodyPr>
          <a:lstStyle/>
          <a:p>
            <a:pPr marL="0" indent="0" algn="ctr">
              <a:lnSpc>
                <a:spcPct val="112500"/>
              </a:lnSpc>
              <a:spcBef>
                <a:spcPts val="375"/>
              </a:spcBef>
              <a:buNone/>
            </a:pPr>
            <a:r>
              <a:rPr lang="vi-VN" sz="7488" b="1" dirty="0">
                <a:solidFill>
                  <a:srgbClr val="FFFFFF"/>
                </a:solidFill>
                <a:latin typeface="Times New Roman" panose="02020603050405020304" pitchFamily="18" charset="0"/>
                <a:ea typeface="Noto Sans" pitchFamily="34" charset="-122"/>
                <a:cs typeface="Times New Roman" panose="02020603050405020304" pitchFamily="18" charset="0"/>
              </a:rPr>
              <a:t>02</a:t>
            </a:r>
            <a:endParaRPr lang="en-US" sz="1440" dirty="0">
              <a:latin typeface="Times New Roman" panose="02020603050405020304" pitchFamily="18" charset="0"/>
              <a:cs typeface="Times New Roman" panose="02020603050405020304" pitchFamily="18" charset="0"/>
            </a:endParaRPr>
          </a:p>
        </p:txBody>
      </p:sp>
      <p:sp>
        <p:nvSpPr>
          <p:cNvPr id="4" name="Shape 2"/>
          <p:cNvSpPr/>
          <p:nvPr/>
        </p:nvSpPr>
        <p:spPr>
          <a:xfrm>
            <a:off x="4393087" y="3494108"/>
            <a:ext cx="357826" cy="0"/>
          </a:xfrm>
          <a:custGeom>
            <a:avLst/>
            <a:gdLst/>
            <a:ahLst/>
            <a:cxnLst/>
            <a:rect l="l" t="t" r="r" b="b"/>
            <a:pathLst>
              <a:path w="357826">
                <a:moveTo>
                  <a:pt x="0" y="0"/>
                </a:moveTo>
                <a:moveTo>
                  <a:pt x="0" y="0"/>
                </a:moveTo>
                <a:lnTo>
                  <a:pt x="357826" y="0"/>
                </a:lnTo>
              </a:path>
            </a:pathLst>
          </a:custGeom>
          <a:noFill/>
          <a:ln w="28575">
            <a:solidFill>
              <a:srgbClr val="EED7C0"/>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Mô hình client-server</a:t>
            </a:r>
            <a:endParaRPr lang="en-US" sz="1440" dirty="0">
              <a:latin typeface="Times New Roman" panose="02020603050405020304" pitchFamily="18" charset="0"/>
              <a:cs typeface="Times New Roman" panose="02020603050405020304" pitchFamily="18" charset="0"/>
            </a:endParaRPr>
          </a:p>
        </p:txBody>
      </p:sp>
      <p:pic>
        <p:nvPicPr>
          <p:cNvPr id="3" name="Image 0" descr="https://oceandoc-ai.obs.ap-southeast-3.myhuaweicloud.com:443/image_1766805020380_s4I55v.jpg"/>
          <p:cNvPicPr>
            <a:picLocks noChangeAspect="1"/>
          </p:cNvPicPr>
          <p:nvPr/>
        </p:nvPicPr>
        <p:blipFill>
          <a:blip r:embed="rId4"/>
          <a:srcRect/>
          <a:stretch/>
        </p:blipFill>
        <p:spPr>
          <a:xfrm>
            <a:off x="3246079" y="1245829"/>
            <a:ext cx="2651842" cy="2651842"/>
          </a:xfrm>
          <a:prstGeom prst="ellipse">
            <a:avLst/>
          </a:prstGeom>
        </p:spPr>
      </p:pic>
      <p:sp>
        <p:nvSpPr>
          <p:cNvPr id="4" name="Text 1"/>
          <p:cNvSpPr/>
          <p:nvPr/>
        </p:nvSpPr>
        <p:spPr>
          <a:xfrm>
            <a:off x="258693" y="939111"/>
            <a:ext cx="2833736"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Kiến trúc phân lớp</a:t>
            </a:r>
            <a:endParaRPr lang="en-US" sz="1440" dirty="0">
              <a:latin typeface="Times New Roman" panose="02020603050405020304" pitchFamily="18" charset="0"/>
              <a:cs typeface="Times New Roman" panose="02020603050405020304" pitchFamily="18" charset="0"/>
            </a:endParaRPr>
          </a:p>
        </p:txBody>
      </p:sp>
      <p:sp>
        <p:nvSpPr>
          <p:cNvPr id="5" name="Text 2"/>
          <p:cNvSpPr/>
          <p:nvPr/>
        </p:nvSpPr>
        <p:spPr>
          <a:xfrm>
            <a:off x="253537" y="1370708"/>
            <a:ext cx="2838893" cy="347467"/>
          </a:xfrm>
          <a:prstGeom prst="rect">
            <a:avLst/>
          </a:prstGeom>
          <a:noFill/>
          <a:ln/>
        </p:spPr>
        <p:txBody>
          <a:bodyPr wrap="square" lIns="95250" tIns="95250" rIns="95250" bIns="95250" rtlCol="0" anchor="t">
            <a:spAutoFit/>
          </a:bodyPr>
          <a:lstStyle/>
          <a:p>
            <a:pPr marL="0" indent="0" algn="r">
              <a:lnSpc>
                <a:spcPct val="100000"/>
              </a:lnSpc>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Gồm lớp trình bày, lớp logic và lớp dữ liệu.</a:t>
            </a:r>
            <a:endParaRPr lang="en-US" sz="1440" dirty="0">
              <a:latin typeface="Times New Roman" panose="02020603050405020304" pitchFamily="18" charset="0"/>
              <a:cs typeface="Times New Roman" panose="02020603050405020304" pitchFamily="18" charset="0"/>
            </a:endParaRPr>
          </a:p>
        </p:txBody>
      </p:sp>
      <p:sp>
        <p:nvSpPr>
          <p:cNvPr id="6" name="Text 3"/>
          <p:cNvSpPr/>
          <p:nvPr/>
        </p:nvSpPr>
        <p:spPr>
          <a:xfrm>
            <a:off x="6002866" y="939111"/>
            <a:ext cx="2874389"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Công nghệ phía client</a:t>
            </a:r>
            <a:endParaRPr lang="en-US" sz="1440" dirty="0">
              <a:latin typeface="Times New Roman" panose="02020603050405020304" pitchFamily="18" charset="0"/>
              <a:cs typeface="Times New Roman" panose="02020603050405020304" pitchFamily="18" charset="0"/>
            </a:endParaRPr>
          </a:p>
        </p:txBody>
      </p:sp>
      <p:sp>
        <p:nvSpPr>
          <p:cNvPr id="7" name="Text 4"/>
          <p:cNvSpPr/>
          <p:nvPr/>
        </p:nvSpPr>
        <p:spPr>
          <a:xfrm>
            <a:off x="6002866" y="1370686"/>
            <a:ext cx="2869730"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HTML, CSS và JavaScript xử lý giao diện người dùng.</a:t>
            </a:r>
            <a:endParaRPr lang="en-US" sz="1440" dirty="0">
              <a:latin typeface="Times New Roman" panose="02020603050405020304" pitchFamily="18" charset="0"/>
              <a:cs typeface="Times New Roman" panose="02020603050405020304" pitchFamily="18" charset="0"/>
            </a:endParaRPr>
          </a:p>
        </p:txBody>
      </p:sp>
      <p:sp>
        <p:nvSpPr>
          <p:cNvPr id="8" name="Text 5"/>
          <p:cNvSpPr/>
          <p:nvPr/>
        </p:nvSpPr>
        <p:spPr>
          <a:xfrm>
            <a:off x="258693" y="3171161"/>
            <a:ext cx="2833736"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Công nghệ phía server</a:t>
            </a:r>
            <a:endParaRPr lang="en-US" sz="1440" dirty="0">
              <a:latin typeface="Times New Roman" panose="02020603050405020304" pitchFamily="18" charset="0"/>
              <a:cs typeface="Times New Roman" panose="02020603050405020304" pitchFamily="18" charset="0"/>
            </a:endParaRPr>
          </a:p>
        </p:txBody>
      </p:sp>
      <p:sp>
        <p:nvSpPr>
          <p:cNvPr id="9" name="Text 6"/>
          <p:cNvSpPr/>
          <p:nvPr/>
        </p:nvSpPr>
        <p:spPr>
          <a:xfrm>
            <a:off x="253537" y="3595443"/>
            <a:ext cx="2838893" cy="347467"/>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PHP xử lý logic nghiệp vụ và kết nối cơ sở dữ liệu.</a:t>
            </a:r>
            <a:endParaRPr lang="en-US" sz="1440" dirty="0">
              <a:latin typeface="Times New Roman" panose="02020603050405020304" pitchFamily="18" charset="0"/>
              <a:cs typeface="Times New Roman" panose="02020603050405020304" pitchFamily="18" charset="0"/>
            </a:endParaRPr>
          </a:p>
        </p:txBody>
      </p:sp>
      <p:sp>
        <p:nvSpPr>
          <p:cNvPr id="10" name="Text 7"/>
          <p:cNvSpPr/>
          <p:nvPr/>
        </p:nvSpPr>
        <p:spPr>
          <a:xfrm>
            <a:off x="6002866" y="3171139"/>
            <a:ext cx="2874389"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Tính sẵn sàng cao</a:t>
            </a:r>
            <a:endParaRPr lang="en-US" sz="1440" dirty="0">
              <a:latin typeface="Times New Roman" panose="02020603050405020304" pitchFamily="18" charset="0"/>
              <a:cs typeface="Times New Roman" panose="02020603050405020304" pitchFamily="18" charset="0"/>
            </a:endParaRPr>
          </a:p>
        </p:txBody>
      </p:sp>
      <p:sp>
        <p:nvSpPr>
          <p:cNvPr id="11" name="Text 8"/>
          <p:cNvSpPr/>
          <p:nvPr/>
        </p:nvSpPr>
        <p:spPr>
          <a:xfrm>
            <a:off x="6002866" y="3595443"/>
            <a:ext cx="2869730"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Sao lưu dữ liệu hàng ngày và cập nhật không gián đoạn.</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Backend sử dụng PHP</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1412641" y="2916887"/>
            <a:ext cx="6246628" cy="0"/>
          </a:xfrm>
          <a:custGeom>
            <a:avLst/>
            <a:gdLst/>
            <a:ahLst/>
            <a:cxnLst/>
            <a:rect l="l" t="t" r="r" b="b"/>
            <a:pathLst>
              <a:path w="6246628">
                <a:moveTo>
                  <a:pt x="0" y="0"/>
                </a:moveTo>
                <a:moveTo>
                  <a:pt x="0" y="0"/>
                </a:moveTo>
                <a:lnTo>
                  <a:pt x="6246628" y="0"/>
                </a:lnTo>
              </a:path>
            </a:pathLst>
          </a:custGeom>
          <a:noFill/>
          <a:ln w="83127">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859807" y="2484452"/>
            <a:ext cx="864870" cy="864870"/>
          </a:xfrm>
          <a:custGeom>
            <a:avLst/>
            <a:gdLst/>
            <a:ahLst/>
            <a:cxnLst/>
            <a:rect l="l" t="t" r="r" b="b"/>
            <a:pathLst>
              <a:path w="864870" h="864870">
                <a:moveTo>
                  <a:pt x="432435" y="0"/>
                </a:moveTo>
                <a:moveTo>
                  <a:pt x="432435" y="0"/>
                </a:moveTo>
                <a:cubicBezTo>
                  <a:pt x="671102" y="0"/>
                  <a:pt x="864870" y="193768"/>
                  <a:pt x="864870" y="432435"/>
                </a:cubicBezTo>
                <a:cubicBezTo>
                  <a:pt x="864870" y="671102"/>
                  <a:pt x="671102" y="864870"/>
                  <a:pt x="432435" y="864870"/>
                </a:cubicBezTo>
                <a:cubicBezTo>
                  <a:pt x="193768" y="864870"/>
                  <a:pt x="0" y="671102"/>
                  <a:pt x="0" y="432435"/>
                </a:cubicBezTo>
                <a:cubicBezTo>
                  <a:pt x="0" y="193768"/>
                  <a:pt x="193768" y="0"/>
                  <a:pt x="432435"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3058596" y="2484452"/>
            <a:ext cx="864870" cy="864870"/>
          </a:xfrm>
          <a:custGeom>
            <a:avLst/>
            <a:gdLst/>
            <a:ahLst/>
            <a:cxnLst/>
            <a:rect l="l" t="t" r="r" b="b"/>
            <a:pathLst>
              <a:path w="864870" h="864870">
                <a:moveTo>
                  <a:pt x="432435" y="0"/>
                </a:moveTo>
                <a:moveTo>
                  <a:pt x="432435" y="0"/>
                </a:moveTo>
                <a:cubicBezTo>
                  <a:pt x="671102" y="0"/>
                  <a:pt x="864870" y="193768"/>
                  <a:pt x="864870" y="432435"/>
                </a:cubicBezTo>
                <a:cubicBezTo>
                  <a:pt x="864870" y="671102"/>
                  <a:pt x="671102" y="864870"/>
                  <a:pt x="432435" y="864870"/>
                </a:cubicBezTo>
                <a:cubicBezTo>
                  <a:pt x="193768" y="864870"/>
                  <a:pt x="0" y="671102"/>
                  <a:pt x="0" y="432435"/>
                </a:cubicBezTo>
                <a:cubicBezTo>
                  <a:pt x="0" y="193768"/>
                  <a:pt x="193768" y="0"/>
                  <a:pt x="432435"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5231114" y="2484452"/>
            <a:ext cx="864870" cy="864870"/>
          </a:xfrm>
          <a:custGeom>
            <a:avLst/>
            <a:gdLst/>
            <a:ahLst/>
            <a:cxnLst/>
            <a:rect l="l" t="t" r="r" b="b"/>
            <a:pathLst>
              <a:path w="864870" h="864870">
                <a:moveTo>
                  <a:pt x="432435" y="0"/>
                </a:moveTo>
                <a:moveTo>
                  <a:pt x="432435" y="0"/>
                </a:moveTo>
                <a:cubicBezTo>
                  <a:pt x="671102" y="0"/>
                  <a:pt x="864870" y="193768"/>
                  <a:pt x="864870" y="432435"/>
                </a:cubicBezTo>
                <a:cubicBezTo>
                  <a:pt x="864870" y="671102"/>
                  <a:pt x="671102" y="864870"/>
                  <a:pt x="432435" y="864870"/>
                </a:cubicBezTo>
                <a:cubicBezTo>
                  <a:pt x="193768" y="864870"/>
                  <a:pt x="0" y="671102"/>
                  <a:pt x="0" y="432435"/>
                </a:cubicBezTo>
                <a:cubicBezTo>
                  <a:pt x="0" y="193768"/>
                  <a:pt x="193768" y="0"/>
                  <a:pt x="432435"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Shape 5"/>
          <p:cNvSpPr/>
          <p:nvPr/>
        </p:nvSpPr>
        <p:spPr>
          <a:xfrm>
            <a:off x="7419323" y="2484452"/>
            <a:ext cx="864870" cy="864870"/>
          </a:xfrm>
          <a:custGeom>
            <a:avLst/>
            <a:gdLst/>
            <a:ahLst/>
            <a:cxnLst/>
            <a:rect l="l" t="t" r="r" b="b"/>
            <a:pathLst>
              <a:path w="864870" h="864870">
                <a:moveTo>
                  <a:pt x="432435" y="0"/>
                </a:moveTo>
                <a:moveTo>
                  <a:pt x="432435" y="0"/>
                </a:moveTo>
                <a:cubicBezTo>
                  <a:pt x="671102" y="0"/>
                  <a:pt x="864870" y="193768"/>
                  <a:pt x="864870" y="432435"/>
                </a:cubicBezTo>
                <a:cubicBezTo>
                  <a:pt x="864870" y="671102"/>
                  <a:pt x="671102" y="864870"/>
                  <a:pt x="432435" y="864870"/>
                </a:cubicBezTo>
                <a:cubicBezTo>
                  <a:pt x="193768" y="864870"/>
                  <a:pt x="0" y="671102"/>
                  <a:pt x="0" y="432435"/>
                </a:cubicBezTo>
                <a:cubicBezTo>
                  <a:pt x="0" y="193768"/>
                  <a:pt x="193768" y="0"/>
                  <a:pt x="432435"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8" name="Image 0" descr="preencoded.png"/>
          <p:cNvPicPr>
            <a:picLocks noChangeAspect="1"/>
          </p:cNvPicPr>
          <p:nvPr/>
        </p:nvPicPr>
        <p:blipFill>
          <a:blip r:embed="rId4"/>
          <a:stretch>
            <a:fillRect/>
          </a:stretch>
        </p:blipFill>
        <p:spPr>
          <a:xfrm>
            <a:off x="1120754" y="2209970"/>
            <a:ext cx="342976" cy="449345"/>
          </a:xfrm>
          <a:prstGeom prst="rect">
            <a:avLst/>
          </a:prstGeom>
        </p:spPr>
      </p:pic>
      <p:pic>
        <p:nvPicPr>
          <p:cNvPr id="9" name="Image 1" descr="preencoded.png"/>
          <p:cNvPicPr>
            <a:picLocks noChangeAspect="1"/>
          </p:cNvPicPr>
          <p:nvPr/>
        </p:nvPicPr>
        <p:blipFill>
          <a:blip r:embed="rId4"/>
          <a:stretch>
            <a:fillRect/>
          </a:stretch>
        </p:blipFill>
        <p:spPr>
          <a:xfrm flipV="1">
            <a:off x="1120754" y="3174459"/>
            <a:ext cx="342976" cy="449345"/>
          </a:xfrm>
          <a:prstGeom prst="rect">
            <a:avLst/>
          </a:prstGeom>
        </p:spPr>
      </p:pic>
      <p:pic>
        <p:nvPicPr>
          <p:cNvPr id="10" name="Image 2" descr="preencoded.png"/>
          <p:cNvPicPr>
            <a:picLocks noChangeAspect="1"/>
          </p:cNvPicPr>
          <p:nvPr/>
        </p:nvPicPr>
        <p:blipFill>
          <a:blip r:embed="rId4"/>
          <a:stretch>
            <a:fillRect/>
          </a:stretch>
        </p:blipFill>
        <p:spPr>
          <a:xfrm>
            <a:off x="3319543" y="2209970"/>
            <a:ext cx="342976" cy="449345"/>
          </a:xfrm>
          <a:prstGeom prst="rect">
            <a:avLst/>
          </a:prstGeom>
        </p:spPr>
      </p:pic>
      <p:pic>
        <p:nvPicPr>
          <p:cNvPr id="11" name="Image 3" descr="preencoded.png"/>
          <p:cNvPicPr>
            <a:picLocks noChangeAspect="1"/>
          </p:cNvPicPr>
          <p:nvPr/>
        </p:nvPicPr>
        <p:blipFill>
          <a:blip r:embed="rId4"/>
          <a:stretch>
            <a:fillRect/>
          </a:stretch>
        </p:blipFill>
        <p:spPr>
          <a:xfrm flipV="1">
            <a:off x="3319543" y="3174459"/>
            <a:ext cx="342976" cy="449345"/>
          </a:xfrm>
          <a:prstGeom prst="rect">
            <a:avLst/>
          </a:prstGeom>
        </p:spPr>
      </p:pic>
      <p:pic>
        <p:nvPicPr>
          <p:cNvPr id="12" name="Image 4" descr="preencoded.png"/>
          <p:cNvPicPr>
            <a:picLocks noChangeAspect="1"/>
          </p:cNvPicPr>
          <p:nvPr/>
        </p:nvPicPr>
        <p:blipFill>
          <a:blip r:embed="rId4"/>
          <a:stretch>
            <a:fillRect/>
          </a:stretch>
        </p:blipFill>
        <p:spPr>
          <a:xfrm>
            <a:off x="5492061" y="2209970"/>
            <a:ext cx="342976" cy="449345"/>
          </a:xfrm>
          <a:prstGeom prst="rect">
            <a:avLst/>
          </a:prstGeom>
        </p:spPr>
      </p:pic>
      <p:pic>
        <p:nvPicPr>
          <p:cNvPr id="13" name="Image 5" descr="preencoded.png"/>
          <p:cNvPicPr>
            <a:picLocks noChangeAspect="1"/>
          </p:cNvPicPr>
          <p:nvPr/>
        </p:nvPicPr>
        <p:blipFill>
          <a:blip r:embed="rId4"/>
          <a:stretch>
            <a:fillRect/>
          </a:stretch>
        </p:blipFill>
        <p:spPr>
          <a:xfrm flipV="1">
            <a:off x="5492061" y="3174459"/>
            <a:ext cx="342976" cy="449345"/>
          </a:xfrm>
          <a:prstGeom prst="rect">
            <a:avLst/>
          </a:prstGeom>
        </p:spPr>
      </p:pic>
      <p:pic>
        <p:nvPicPr>
          <p:cNvPr id="14" name="Image 6" descr="preencoded.png"/>
          <p:cNvPicPr>
            <a:picLocks noChangeAspect="1"/>
          </p:cNvPicPr>
          <p:nvPr/>
        </p:nvPicPr>
        <p:blipFill>
          <a:blip r:embed="rId4"/>
          <a:stretch>
            <a:fillRect/>
          </a:stretch>
        </p:blipFill>
        <p:spPr>
          <a:xfrm>
            <a:off x="7680270" y="2209970"/>
            <a:ext cx="342976" cy="449345"/>
          </a:xfrm>
          <a:prstGeom prst="rect">
            <a:avLst/>
          </a:prstGeom>
        </p:spPr>
      </p:pic>
      <p:pic>
        <p:nvPicPr>
          <p:cNvPr id="15" name="Image 7" descr="preencoded.png"/>
          <p:cNvPicPr>
            <a:picLocks noChangeAspect="1"/>
          </p:cNvPicPr>
          <p:nvPr/>
        </p:nvPicPr>
        <p:blipFill>
          <a:blip r:embed="rId4"/>
          <a:stretch>
            <a:fillRect/>
          </a:stretch>
        </p:blipFill>
        <p:spPr>
          <a:xfrm flipV="1">
            <a:off x="7680270" y="3174459"/>
            <a:ext cx="342976" cy="449345"/>
          </a:xfrm>
          <a:prstGeom prst="rect">
            <a:avLst/>
          </a:prstGeom>
        </p:spPr>
      </p:pic>
      <p:sp>
        <p:nvSpPr>
          <p:cNvPr id="16" name="Text 6"/>
          <p:cNvSpPr/>
          <p:nvPr/>
        </p:nvSpPr>
        <p:spPr>
          <a:xfrm>
            <a:off x="980642" y="2592275"/>
            <a:ext cx="623201" cy="58522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448" b="1" dirty="0">
                <a:solidFill>
                  <a:srgbClr val="FFFFFF"/>
                </a:solidFill>
                <a:latin typeface="Times New Roman" panose="02020603050405020304" pitchFamily="18" charset="0"/>
                <a:ea typeface="Noto Sans" pitchFamily="34" charset="-122"/>
                <a:cs typeface="Times New Roman" panose="02020603050405020304" pitchFamily="18" charset="0"/>
              </a:rPr>
              <a:t>01</a:t>
            </a:r>
            <a:endParaRPr lang="en-US" sz="1440" dirty="0">
              <a:latin typeface="Times New Roman" panose="02020603050405020304" pitchFamily="18" charset="0"/>
              <a:cs typeface="Times New Roman" panose="02020603050405020304" pitchFamily="18" charset="0"/>
            </a:endParaRPr>
          </a:p>
        </p:txBody>
      </p:sp>
      <p:sp>
        <p:nvSpPr>
          <p:cNvPr id="17" name="Text 7"/>
          <p:cNvSpPr/>
          <p:nvPr/>
        </p:nvSpPr>
        <p:spPr>
          <a:xfrm>
            <a:off x="3179430" y="2592275"/>
            <a:ext cx="623201" cy="58522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448" b="1" dirty="0">
                <a:solidFill>
                  <a:srgbClr val="FFFFFF"/>
                </a:solidFill>
                <a:latin typeface="Times New Roman" panose="02020603050405020304" pitchFamily="18" charset="0"/>
                <a:ea typeface="Noto Sans" pitchFamily="34" charset="-122"/>
                <a:cs typeface="Times New Roman" panose="02020603050405020304" pitchFamily="18" charset="0"/>
              </a:rPr>
              <a:t>02</a:t>
            </a:r>
            <a:endParaRPr lang="en-US" sz="1440" dirty="0">
              <a:latin typeface="Times New Roman" panose="02020603050405020304" pitchFamily="18" charset="0"/>
              <a:cs typeface="Times New Roman" panose="02020603050405020304" pitchFamily="18" charset="0"/>
            </a:endParaRPr>
          </a:p>
        </p:txBody>
      </p:sp>
      <p:sp>
        <p:nvSpPr>
          <p:cNvPr id="18" name="Text 8"/>
          <p:cNvSpPr/>
          <p:nvPr/>
        </p:nvSpPr>
        <p:spPr>
          <a:xfrm>
            <a:off x="5351948" y="2592275"/>
            <a:ext cx="623201" cy="58522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448" b="1" dirty="0">
                <a:solidFill>
                  <a:srgbClr val="FFFFFF"/>
                </a:solidFill>
                <a:latin typeface="Times New Roman" panose="02020603050405020304" pitchFamily="18" charset="0"/>
                <a:ea typeface="Noto Sans" pitchFamily="34" charset="-122"/>
                <a:cs typeface="Times New Roman" panose="02020603050405020304" pitchFamily="18" charset="0"/>
              </a:rPr>
              <a:t>03</a:t>
            </a:r>
            <a:endParaRPr lang="en-US" sz="1440" dirty="0">
              <a:latin typeface="Times New Roman" panose="02020603050405020304" pitchFamily="18" charset="0"/>
              <a:cs typeface="Times New Roman" panose="02020603050405020304" pitchFamily="18" charset="0"/>
            </a:endParaRPr>
          </a:p>
        </p:txBody>
      </p:sp>
      <p:sp>
        <p:nvSpPr>
          <p:cNvPr id="19" name="Text 9"/>
          <p:cNvSpPr/>
          <p:nvPr/>
        </p:nvSpPr>
        <p:spPr>
          <a:xfrm>
            <a:off x="7540157" y="2592275"/>
            <a:ext cx="623201" cy="585225"/>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448" b="1" dirty="0">
                <a:solidFill>
                  <a:srgbClr val="FFFFFF"/>
                </a:solidFill>
                <a:latin typeface="Times New Roman" panose="02020603050405020304" pitchFamily="18" charset="0"/>
                <a:ea typeface="Noto Sans" pitchFamily="34" charset="-122"/>
                <a:cs typeface="Times New Roman" panose="02020603050405020304" pitchFamily="18" charset="0"/>
              </a:rPr>
              <a:t>04</a:t>
            </a:r>
            <a:endParaRPr lang="en-US" sz="1440" dirty="0">
              <a:latin typeface="Times New Roman" panose="02020603050405020304" pitchFamily="18" charset="0"/>
              <a:cs typeface="Times New Roman" panose="02020603050405020304" pitchFamily="18" charset="0"/>
            </a:endParaRPr>
          </a:p>
        </p:txBody>
      </p:sp>
      <p:sp>
        <p:nvSpPr>
          <p:cNvPr id="20" name="Text 10"/>
          <p:cNvSpPr/>
          <p:nvPr/>
        </p:nvSpPr>
        <p:spPr>
          <a:xfrm>
            <a:off x="220574" y="3772009"/>
            <a:ext cx="2143336" cy="377965"/>
          </a:xfrm>
          <a:prstGeom prst="rect">
            <a:avLst/>
          </a:prstGeom>
          <a:noFill/>
          <a:ln/>
        </p:spPr>
        <p:txBody>
          <a:bodyPr wrap="square" lIns="95250" tIns="95250" rIns="95250" bIns="95250" rtlCol="0" anchor="b"/>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Xử lý logic máy chủ</a:t>
            </a:r>
            <a:endParaRPr lang="en-US" sz="1440" dirty="0">
              <a:latin typeface="Times New Roman" panose="02020603050405020304" pitchFamily="18" charset="0"/>
              <a:cs typeface="Times New Roman" panose="02020603050405020304" pitchFamily="18" charset="0"/>
            </a:endParaRPr>
          </a:p>
        </p:txBody>
      </p:sp>
      <p:sp>
        <p:nvSpPr>
          <p:cNvPr id="22" name="Text 11"/>
          <p:cNvSpPr/>
          <p:nvPr/>
        </p:nvSpPr>
        <p:spPr>
          <a:xfrm>
            <a:off x="220574" y="4040245"/>
            <a:ext cx="2143336"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PHP quản lý đăng nhập, cập nhật sản phẩm, tạo hóa đơn và tính toán doanh thu.</a:t>
            </a:r>
            <a:endParaRPr lang="en-US" sz="1440" dirty="0">
              <a:latin typeface="Times New Roman" panose="02020603050405020304" pitchFamily="18" charset="0"/>
              <a:cs typeface="Times New Roman" panose="02020603050405020304" pitchFamily="18" charset="0"/>
            </a:endParaRPr>
          </a:p>
        </p:txBody>
      </p:sp>
      <p:sp>
        <p:nvSpPr>
          <p:cNvPr id="23" name="Text 12"/>
          <p:cNvSpPr/>
          <p:nvPr/>
        </p:nvSpPr>
        <p:spPr>
          <a:xfrm>
            <a:off x="2419363" y="996421"/>
            <a:ext cx="2143336" cy="377965"/>
          </a:xfrm>
          <a:prstGeom prst="rect">
            <a:avLst/>
          </a:prstGeom>
          <a:noFill/>
          <a:ln/>
        </p:spPr>
        <p:txBody>
          <a:bodyPr wrap="square" lIns="95250" tIns="95250" rIns="95250" bIns="95250" rtlCol="0" anchor="b"/>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Kết nối cơ sở dữ liệu</a:t>
            </a:r>
            <a:endParaRPr lang="en-US" sz="1440" dirty="0">
              <a:latin typeface="Times New Roman" panose="02020603050405020304" pitchFamily="18" charset="0"/>
              <a:cs typeface="Times New Roman" panose="02020603050405020304" pitchFamily="18" charset="0"/>
            </a:endParaRPr>
          </a:p>
        </p:txBody>
      </p:sp>
      <p:sp>
        <p:nvSpPr>
          <p:cNvPr id="25" name="Text 13"/>
          <p:cNvSpPr/>
          <p:nvPr/>
        </p:nvSpPr>
        <p:spPr>
          <a:xfrm>
            <a:off x="2419363" y="1268138"/>
            <a:ext cx="2143336"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Truy vấn MySQL lưu trữ thông tin sản phẩm, hóa đơn và người dùng.</a:t>
            </a:r>
            <a:endParaRPr lang="en-US" sz="1440" dirty="0">
              <a:latin typeface="Times New Roman" panose="02020603050405020304" pitchFamily="18" charset="0"/>
              <a:cs typeface="Times New Roman" panose="02020603050405020304" pitchFamily="18" charset="0"/>
            </a:endParaRPr>
          </a:p>
        </p:txBody>
      </p:sp>
      <p:sp>
        <p:nvSpPr>
          <p:cNvPr id="26" name="Text 14"/>
          <p:cNvSpPr/>
          <p:nvPr/>
        </p:nvSpPr>
        <p:spPr>
          <a:xfrm>
            <a:off x="4591881" y="3772009"/>
            <a:ext cx="2143336" cy="377965"/>
          </a:xfrm>
          <a:prstGeom prst="rect">
            <a:avLst/>
          </a:prstGeom>
          <a:noFill/>
          <a:ln/>
        </p:spPr>
        <p:txBody>
          <a:bodyPr wrap="square" lIns="95250" tIns="95250" rIns="95250" bIns="95250" rtlCol="0" anchor="b"/>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Xử lý phiên làm việc</a:t>
            </a:r>
            <a:endParaRPr lang="en-US" sz="1440" dirty="0">
              <a:latin typeface="Times New Roman" panose="02020603050405020304" pitchFamily="18" charset="0"/>
              <a:cs typeface="Times New Roman" panose="02020603050405020304" pitchFamily="18" charset="0"/>
            </a:endParaRPr>
          </a:p>
        </p:txBody>
      </p:sp>
      <p:sp>
        <p:nvSpPr>
          <p:cNvPr id="28" name="Text 15"/>
          <p:cNvSpPr/>
          <p:nvPr/>
        </p:nvSpPr>
        <p:spPr>
          <a:xfrm>
            <a:off x="4591881" y="4040245"/>
            <a:ext cx="2143336"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Quản lý Session đảm bảo phân quyền và bảo mật giữa admin và nhân viên.</a:t>
            </a:r>
            <a:endParaRPr lang="en-US" sz="1440" dirty="0">
              <a:latin typeface="Times New Roman" panose="02020603050405020304" pitchFamily="18" charset="0"/>
              <a:cs typeface="Times New Roman" panose="02020603050405020304" pitchFamily="18" charset="0"/>
            </a:endParaRPr>
          </a:p>
        </p:txBody>
      </p:sp>
      <p:sp>
        <p:nvSpPr>
          <p:cNvPr id="29" name="Text 16"/>
          <p:cNvSpPr/>
          <p:nvPr/>
        </p:nvSpPr>
        <p:spPr>
          <a:xfrm>
            <a:off x="6780090" y="996421"/>
            <a:ext cx="2143336" cy="377965"/>
          </a:xfrm>
          <a:prstGeom prst="rect">
            <a:avLst/>
          </a:prstGeom>
          <a:noFill/>
          <a:ln/>
        </p:spPr>
        <p:txBody>
          <a:bodyPr wrap="square" lIns="95250" tIns="95250" rIns="95250" bIns="95250" rtlCol="0" anchor="b"/>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API RESTful</a:t>
            </a:r>
            <a:endParaRPr lang="en-US" sz="1440" dirty="0">
              <a:latin typeface="Times New Roman" panose="02020603050405020304" pitchFamily="18" charset="0"/>
              <a:cs typeface="Times New Roman" panose="02020603050405020304" pitchFamily="18" charset="0"/>
            </a:endParaRPr>
          </a:p>
        </p:txBody>
      </p:sp>
      <p:pic>
        <p:nvPicPr>
          <p:cNvPr id="30" name="Image 11" descr="https://oceandoc-ai.obs.ap-southeast-3.myhuaweicloud.com:443/image_1766805034729_2Y0uPN.jpg"/>
          <p:cNvPicPr>
            <a:picLocks noChangeAspect="1"/>
          </p:cNvPicPr>
          <p:nvPr/>
        </p:nvPicPr>
        <p:blipFill>
          <a:blip r:embed="rId5"/>
          <a:srcRect t="21875" b="21875"/>
          <a:stretch/>
        </p:blipFill>
        <p:spPr>
          <a:xfrm>
            <a:off x="6782824" y="3643396"/>
            <a:ext cx="2137867" cy="1201522"/>
          </a:xfrm>
          <a:prstGeom prst="rect">
            <a:avLst/>
          </a:prstGeom>
        </p:spPr>
      </p:pic>
      <p:sp>
        <p:nvSpPr>
          <p:cNvPr id="31" name="Text 17"/>
          <p:cNvSpPr/>
          <p:nvPr/>
        </p:nvSpPr>
        <p:spPr>
          <a:xfrm>
            <a:off x="6780090" y="1268138"/>
            <a:ext cx="2143336"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Xử lý yêu cầu POST, GET, PUT từ giao diện người dùng và trả về dữ liệu JSON.</a:t>
            </a:r>
            <a:endParaRPr lang="en-US" sz="1440" dirty="0">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D048117D-414F-E20B-8D99-5A289560DA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59589" y="3614233"/>
            <a:ext cx="2137867" cy="1185999"/>
          </a:xfrm>
          <a:prstGeom prst="rect">
            <a:avLst/>
          </a:prstGeom>
        </p:spPr>
      </p:pic>
      <p:pic>
        <p:nvPicPr>
          <p:cNvPr id="33" name="Picture 32">
            <a:extLst>
              <a:ext uri="{FF2B5EF4-FFF2-40B4-BE49-F238E27FC236}">
                <a16:creationId xmlns:a16="http://schemas.microsoft.com/office/drawing/2014/main" id="{04DC1A6B-5BD0-5140-D1D8-E799903B6B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33011" y="1352045"/>
            <a:ext cx="2347079" cy="838334"/>
          </a:xfrm>
          <a:prstGeom prst="rect">
            <a:avLst/>
          </a:prstGeom>
        </p:spPr>
      </p:pic>
      <p:pic>
        <p:nvPicPr>
          <p:cNvPr id="36" name="Picture 35">
            <a:extLst>
              <a:ext uri="{FF2B5EF4-FFF2-40B4-BE49-F238E27FC236}">
                <a16:creationId xmlns:a16="http://schemas.microsoft.com/office/drawing/2014/main" id="{8F239D75-7A52-60F3-0717-7168E0DD5231}"/>
              </a:ext>
            </a:extLst>
          </p:cNvPr>
          <p:cNvPicPr>
            <a:picLocks noChangeAspect="1"/>
          </p:cNvPicPr>
          <p:nvPr/>
        </p:nvPicPr>
        <p:blipFill>
          <a:blip r:embed="rId8"/>
          <a:stretch>
            <a:fillRect/>
          </a:stretch>
        </p:blipFill>
        <p:spPr>
          <a:xfrm>
            <a:off x="216253" y="928522"/>
            <a:ext cx="2143336" cy="13073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Cơ sở dữ liệu MySQL</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489857" y="1001727"/>
            <a:ext cx="8164286" cy="0"/>
          </a:xfrm>
          <a:custGeom>
            <a:avLst/>
            <a:gdLst/>
            <a:ahLst/>
            <a:cxnLst/>
            <a:rect l="l" t="t" r="r" b="b"/>
            <a:pathLst>
              <a:path w="8164286">
                <a:moveTo>
                  <a:pt x="0" y="0"/>
                </a:moveTo>
                <a:moveTo>
                  <a:pt x="0" y="0"/>
                </a:moveTo>
                <a:lnTo>
                  <a:pt x="8164286" y="0"/>
                </a:lnTo>
              </a:path>
            </a:pathLst>
          </a:custGeom>
          <a:noFill/>
          <a:ln w="19050">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4"/>
          <a:stretch>
            <a:fillRect/>
          </a:stretch>
        </p:blipFill>
        <p:spPr>
          <a:xfrm>
            <a:off x="2869416" y="768754"/>
            <a:ext cx="1301272" cy="539098"/>
          </a:xfrm>
          <a:prstGeom prst="rect">
            <a:avLst/>
          </a:prstGeom>
        </p:spPr>
      </p:pic>
      <p:pic>
        <p:nvPicPr>
          <p:cNvPr id="5" name="Image 1" descr="preencoded.png"/>
          <p:cNvPicPr>
            <a:picLocks noChangeAspect="1"/>
          </p:cNvPicPr>
          <p:nvPr/>
        </p:nvPicPr>
        <p:blipFill>
          <a:blip r:embed="rId5"/>
          <a:stretch>
            <a:fillRect/>
          </a:stretch>
        </p:blipFill>
        <p:spPr>
          <a:xfrm>
            <a:off x="457386" y="1366180"/>
            <a:ext cx="1917542" cy="3189051"/>
          </a:xfrm>
          <a:prstGeom prst="rect">
            <a:avLst/>
          </a:prstGeom>
        </p:spPr>
      </p:pic>
      <p:sp>
        <p:nvSpPr>
          <p:cNvPr id="6" name="Shape 2"/>
          <p:cNvSpPr/>
          <p:nvPr/>
        </p:nvSpPr>
        <p:spPr>
          <a:xfrm>
            <a:off x="528470"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3"/>
          <p:cNvSpPr/>
          <p:nvPr/>
        </p:nvSpPr>
        <p:spPr>
          <a:xfrm>
            <a:off x="625092"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1</a:t>
            </a:r>
            <a:endParaRPr lang="en-US" sz="1440" dirty="0">
              <a:latin typeface="Times New Roman" panose="02020603050405020304" pitchFamily="18" charset="0"/>
              <a:cs typeface="Times New Roman" panose="02020603050405020304" pitchFamily="18" charset="0"/>
            </a:endParaRPr>
          </a:p>
        </p:txBody>
      </p:sp>
      <p:sp>
        <p:nvSpPr>
          <p:cNvPr id="8" name="Shape 4"/>
          <p:cNvSpPr/>
          <p:nvPr/>
        </p:nvSpPr>
        <p:spPr>
          <a:xfrm>
            <a:off x="574311"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5"/>
          <p:cNvSpPr/>
          <p:nvPr/>
        </p:nvSpPr>
        <p:spPr>
          <a:xfrm>
            <a:off x="2561282" y="1366180"/>
            <a:ext cx="1917542" cy="3189051"/>
          </a:xfrm>
          <a:custGeom>
            <a:avLst/>
            <a:gdLst/>
            <a:ahLst/>
            <a:cxnLst/>
            <a:rect l="l" t="t" r="r" b="b"/>
            <a:pathLst>
              <a:path w="1917542" h="3189051">
                <a:moveTo>
                  <a:pt x="137206" y="0"/>
                </a:moveTo>
                <a:moveTo>
                  <a:pt x="137206" y="0"/>
                </a:moveTo>
                <a:lnTo>
                  <a:pt x="1780335" y="0"/>
                </a:lnTo>
                <a:quadBezTo>
                  <a:pt x="1917542" y="0"/>
                  <a:pt x="1917542" y="153991"/>
                </a:quadBezTo>
                <a:lnTo>
                  <a:pt x="1917542" y="3035060"/>
                </a:lnTo>
                <a:quadBezTo>
                  <a:pt x="1917542" y="3189051"/>
                  <a:pt x="1780335" y="3189051"/>
                </a:quadBezTo>
                <a:lnTo>
                  <a:pt x="137206" y="3189051"/>
                </a:lnTo>
                <a:quadBezTo>
                  <a:pt x="0" y="3189051"/>
                  <a:pt x="0" y="3035060"/>
                </a:quadBezTo>
                <a:lnTo>
                  <a:pt x="0" y="153991"/>
                </a:lnTo>
                <a:quadBezTo>
                  <a:pt x="0" y="0"/>
                  <a:pt x="137206" y="0"/>
                </a:quadBezTo>
                <a:close/>
              </a:path>
            </a:pathLst>
          </a:custGeom>
          <a:solidFill>
            <a:srgbClr val="9B6047"/>
          </a:solidFill>
          <a:ln w="9525">
            <a:solidFill>
              <a:srgbClr val="9B6047">
                <a:alpha val="45882"/>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6"/>
          <p:cNvSpPr/>
          <p:nvPr/>
        </p:nvSpPr>
        <p:spPr>
          <a:xfrm>
            <a:off x="2632365"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7"/>
          <p:cNvSpPr/>
          <p:nvPr/>
        </p:nvSpPr>
        <p:spPr>
          <a:xfrm>
            <a:off x="2728987"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9B6047"/>
                </a:solidFill>
                <a:latin typeface="Times New Roman" panose="02020603050405020304" pitchFamily="18" charset="0"/>
                <a:ea typeface="Noto Sans" pitchFamily="34" charset="-122"/>
                <a:cs typeface="Times New Roman" panose="02020603050405020304" pitchFamily="18" charset="0"/>
              </a:rPr>
              <a:t>2</a:t>
            </a:r>
            <a:endParaRPr lang="en-US" sz="1440" dirty="0">
              <a:latin typeface="Times New Roman" panose="02020603050405020304" pitchFamily="18" charset="0"/>
              <a:cs typeface="Times New Roman" panose="02020603050405020304" pitchFamily="18" charset="0"/>
            </a:endParaRPr>
          </a:p>
        </p:txBody>
      </p:sp>
      <p:sp>
        <p:nvSpPr>
          <p:cNvPr id="12" name="Shape 8"/>
          <p:cNvSpPr/>
          <p:nvPr/>
        </p:nvSpPr>
        <p:spPr>
          <a:xfrm>
            <a:off x="2678207" y="2295077"/>
            <a:ext cx="1800616" cy="0"/>
          </a:xfrm>
          <a:custGeom>
            <a:avLst/>
            <a:gdLst/>
            <a:ahLst/>
            <a:cxnLst/>
            <a:rect l="l" t="t" r="r" b="b"/>
            <a:pathLst>
              <a:path w="1800616">
                <a:moveTo>
                  <a:pt x="0" y="0"/>
                </a:moveTo>
                <a:moveTo>
                  <a:pt x="0" y="0"/>
                </a:moveTo>
                <a:lnTo>
                  <a:pt x="1800616" y="0"/>
                </a:lnTo>
              </a:path>
            </a:pathLst>
          </a:custGeom>
          <a:noFill/>
          <a:ln w="9525">
            <a:solidFill>
              <a:srgbClr val="FFFFFF">
                <a:alpha val="29020"/>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5"/>
          <a:stretch>
            <a:fillRect/>
          </a:stretch>
        </p:blipFill>
        <p:spPr>
          <a:xfrm>
            <a:off x="4665177" y="1366180"/>
            <a:ext cx="1917542" cy="3189051"/>
          </a:xfrm>
          <a:prstGeom prst="rect">
            <a:avLst/>
          </a:prstGeom>
        </p:spPr>
      </p:pic>
      <p:sp>
        <p:nvSpPr>
          <p:cNvPr id="14" name="Shape 9"/>
          <p:cNvSpPr/>
          <p:nvPr/>
        </p:nvSpPr>
        <p:spPr>
          <a:xfrm>
            <a:off x="4736261"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0"/>
          <p:cNvSpPr/>
          <p:nvPr/>
        </p:nvSpPr>
        <p:spPr>
          <a:xfrm>
            <a:off x="4832883"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3</a:t>
            </a:r>
            <a:endParaRPr lang="en-US" sz="1440" dirty="0">
              <a:latin typeface="Times New Roman" panose="02020603050405020304" pitchFamily="18" charset="0"/>
              <a:cs typeface="Times New Roman" panose="02020603050405020304" pitchFamily="18" charset="0"/>
            </a:endParaRPr>
          </a:p>
        </p:txBody>
      </p:sp>
      <p:sp>
        <p:nvSpPr>
          <p:cNvPr id="16" name="Shape 11"/>
          <p:cNvSpPr/>
          <p:nvPr/>
        </p:nvSpPr>
        <p:spPr>
          <a:xfrm>
            <a:off x="4782102"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17" name="Image 3" descr="preencoded.png"/>
          <p:cNvPicPr>
            <a:picLocks noChangeAspect="1"/>
          </p:cNvPicPr>
          <p:nvPr/>
        </p:nvPicPr>
        <p:blipFill>
          <a:blip r:embed="rId5"/>
          <a:stretch>
            <a:fillRect/>
          </a:stretch>
        </p:blipFill>
        <p:spPr>
          <a:xfrm>
            <a:off x="6769072" y="1366180"/>
            <a:ext cx="1917542" cy="3189051"/>
          </a:xfrm>
          <a:prstGeom prst="rect">
            <a:avLst/>
          </a:prstGeom>
        </p:spPr>
      </p:pic>
      <p:sp>
        <p:nvSpPr>
          <p:cNvPr id="18" name="Shape 12"/>
          <p:cNvSpPr/>
          <p:nvPr/>
        </p:nvSpPr>
        <p:spPr>
          <a:xfrm>
            <a:off x="6840156"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3"/>
          <p:cNvSpPr/>
          <p:nvPr/>
        </p:nvSpPr>
        <p:spPr>
          <a:xfrm>
            <a:off x="6936778"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4</a:t>
            </a:r>
            <a:endParaRPr lang="en-US" sz="1440" dirty="0">
              <a:latin typeface="Times New Roman" panose="02020603050405020304" pitchFamily="18" charset="0"/>
              <a:cs typeface="Times New Roman" panose="02020603050405020304" pitchFamily="18" charset="0"/>
            </a:endParaRPr>
          </a:p>
        </p:txBody>
      </p:sp>
      <p:sp>
        <p:nvSpPr>
          <p:cNvPr id="20" name="Shape 14"/>
          <p:cNvSpPr/>
          <p:nvPr/>
        </p:nvSpPr>
        <p:spPr>
          <a:xfrm>
            <a:off x="6885997"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5"/>
          <p:cNvSpPr/>
          <p:nvPr/>
        </p:nvSpPr>
        <p:spPr>
          <a:xfrm>
            <a:off x="455517" y="1622847"/>
            <a:ext cx="1919411"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Thiết kế cơ sở dữ liệu</a:t>
            </a:r>
            <a:endParaRPr lang="en-US" sz="1440" dirty="0">
              <a:latin typeface="Times New Roman" panose="02020603050405020304" pitchFamily="18" charset="0"/>
              <a:cs typeface="Times New Roman" panose="02020603050405020304" pitchFamily="18" charset="0"/>
            </a:endParaRPr>
          </a:p>
        </p:txBody>
      </p:sp>
      <p:sp>
        <p:nvSpPr>
          <p:cNvPr id="22" name="Text 16"/>
          <p:cNvSpPr/>
          <p:nvPr/>
        </p:nvSpPr>
        <p:spPr>
          <a:xfrm>
            <a:off x="457386" y="2294733"/>
            <a:ext cx="191754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Sơ đồ quan hệ giữa các bảng product, orders, orders_item và users.</a:t>
            </a:r>
            <a:endParaRPr lang="en-US" sz="1440" dirty="0">
              <a:latin typeface="Times New Roman" panose="02020603050405020304" pitchFamily="18" charset="0"/>
              <a:cs typeface="Times New Roman" panose="02020603050405020304" pitchFamily="18" charset="0"/>
            </a:endParaRPr>
          </a:p>
        </p:txBody>
      </p:sp>
      <p:sp>
        <p:nvSpPr>
          <p:cNvPr id="23" name="Text 17"/>
          <p:cNvSpPr/>
          <p:nvPr/>
        </p:nvSpPr>
        <p:spPr>
          <a:xfrm>
            <a:off x="2561282"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FFFFFF"/>
                </a:solidFill>
                <a:latin typeface="Times New Roman" panose="02020603050405020304" pitchFamily="18" charset="0"/>
                <a:ea typeface="Noto Sans" pitchFamily="34" charset="-122"/>
                <a:cs typeface="Times New Roman" panose="02020603050405020304" pitchFamily="18" charset="0"/>
              </a:rPr>
              <a:t>Bảng product</a:t>
            </a:r>
            <a:endParaRPr lang="en-US" sz="1440" dirty="0">
              <a:latin typeface="Times New Roman" panose="02020603050405020304" pitchFamily="18" charset="0"/>
              <a:cs typeface="Times New Roman" panose="02020603050405020304" pitchFamily="18" charset="0"/>
            </a:endParaRPr>
          </a:p>
        </p:txBody>
      </p:sp>
      <p:sp>
        <p:nvSpPr>
          <p:cNvPr id="24" name="Text 18"/>
          <p:cNvSpPr/>
          <p:nvPr/>
        </p:nvSpPr>
        <p:spPr>
          <a:xfrm>
            <a:off x="2561282" y="2294733"/>
            <a:ext cx="191754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FFFFFF"/>
                </a:solidFill>
                <a:latin typeface="Times New Roman" panose="02020603050405020304" pitchFamily="18" charset="0"/>
                <a:ea typeface="Noto Sans" pitchFamily="34" charset="-122"/>
                <a:cs typeface="Times New Roman" panose="02020603050405020304" pitchFamily="18" charset="0"/>
              </a:rPr>
              <a:t>Lưu thông tin sản phẩm với id, name, price, stock, image, description.</a:t>
            </a:r>
            <a:endParaRPr lang="en-US" sz="1440" dirty="0">
              <a:latin typeface="Times New Roman" panose="02020603050405020304" pitchFamily="18" charset="0"/>
              <a:cs typeface="Times New Roman" panose="02020603050405020304" pitchFamily="18" charset="0"/>
            </a:endParaRPr>
          </a:p>
        </p:txBody>
      </p:sp>
      <p:sp>
        <p:nvSpPr>
          <p:cNvPr id="25" name="Text 19"/>
          <p:cNvSpPr/>
          <p:nvPr/>
        </p:nvSpPr>
        <p:spPr>
          <a:xfrm>
            <a:off x="4665177"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Bảng orders</a:t>
            </a:r>
            <a:endParaRPr lang="en-US" sz="1440" dirty="0">
              <a:latin typeface="Times New Roman" panose="02020603050405020304" pitchFamily="18" charset="0"/>
              <a:cs typeface="Times New Roman" panose="02020603050405020304" pitchFamily="18" charset="0"/>
            </a:endParaRPr>
          </a:p>
        </p:txBody>
      </p:sp>
      <p:sp>
        <p:nvSpPr>
          <p:cNvPr id="26" name="Text 20"/>
          <p:cNvSpPr/>
          <p:nvPr/>
        </p:nvSpPr>
        <p:spPr>
          <a:xfrm>
            <a:off x="4665177" y="2294733"/>
            <a:ext cx="191754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Lưu thông tin hóa đơn với id, total, created_at.</a:t>
            </a:r>
            <a:endParaRPr lang="en-US" sz="1440" dirty="0">
              <a:latin typeface="Times New Roman" panose="02020603050405020304" pitchFamily="18" charset="0"/>
              <a:cs typeface="Times New Roman" panose="02020603050405020304" pitchFamily="18" charset="0"/>
            </a:endParaRPr>
          </a:p>
        </p:txBody>
      </p:sp>
      <p:sp>
        <p:nvSpPr>
          <p:cNvPr id="27" name="Text 21"/>
          <p:cNvSpPr/>
          <p:nvPr/>
        </p:nvSpPr>
        <p:spPr>
          <a:xfrm>
            <a:off x="6769072"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Bảng orders_item</a:t>
            </a:r>
            <a:endParaRPr lang="en-US" sz="1440" dirty="0">
              <a:latin typeface="Times New Roman" panose="02020603050405020304" pitchFamily="18" charset="0"/>
              <a:cs typeface="Times New Roman" panose="02020603050405020304" pitchFamily="18" charset="0"/>
            </a:endParaRPr>
          </a:p>
        </p:txBody>
      </p:sp>
      <p:sp>
        <p:nvSpPr>
          <p:cNvPr id="28" name="Text 22"/>
          <p:cNvSpPr/>
          <p:nvPr/>
        </p:nvSpPr>
        <p:spPr>
          <a:xfrm>
            <a:off x="6769072" y="2294733"/>
            <a:ext cx="191754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Lưu chi tiết hóa đơn với order_id, product_id, qty, price.</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46881"/>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2160" b="1" dirty="0">
                <a:solidFill>
                  <a:srgbClr val="00070F"/>
                </a:solidFill>
                <a:latin typeface="+mj-lt"/>
                <a:ea typeface="Noto Sans" pitchFamily="34" charset="-122"/>
                <a:cs typeface="Noto Sans" pitchFamily="34" charset="-120"/>
              </a:rPr>
              <a:t>Giao diện người dùng</a:t>
            </a:r>
            <a:r>
              <a:rPr lang="en-US" sz="2160" b="1" dirty="0">
                <a:solidFill>
                  <a:srgbClr val="00070F"/>
                </a:solidFill>
                <a:latin typeface="+mj-lt"/>
                <a:ea typeface="Noto Sans" pitchFamily="34" charset="-122"/>
                <a:cs typeface="Noto Sans" pitchFamily="34" charset="-120"/>
              </a:rPr>
              <a:t> </a:t>
            </a:r>
            <a:endParaRPr lang="en-US" sz="1440" dirty="0">
              <a:latin typeface="+mj-lt"/>
            </a:endParaRPr>
          </a:p>
        </p:txBody>
      </p:sp>
      <p:sp>
        <p:nvSpPr>
          <p:cNvPr id="4" name="Text 1"/>
          <p:cNvSpPr/>
          <p:nvPr/>
        </p:nvSpPr>
        <p:spPr>
          <a:xfrm>
            <a:off x="216791" y="1132357"/>
            <a:ext cx="3115045"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mj-lt"/>
                <a:ea typeface="Noto Sans" pitchFamily="34" charset="-122"/>
                <a:cs typeface="Noto Sans" pitchFamily="34" charset="-120"/>
              </a:rPr>
              <a:t>Giao diện thân thiện</a:t>
            </a:r>
            <a:endParaRPr lang="en-US" sz="1440" dirty="0">
              <a:latin typeface="+mj-lt"/>
            </a:endParaRPr>
          </a:p>
        </p:txBody>
      </p:sp>
      <p:sp>
        <p:nvSpPr>
          <p:cNvPr id="5" name="Text 2"/>
          <p:cNvSpPr/>
          <p:nvPr/>
        </p:nvSpPr>
        <p:spPr>
          <a:xfrm>
            <a:off x="216791" y="1498483"/>
            <a:ext cx="2069210" cy="502573"/>
          </a:xfrm>
          <a:prstGeom prst="rect">
            <a:avLst/>
          </a:prstGeom>
          <a:noFill/>
          <a:ln/>
        </p:spPr>
        <p:txBody>
          <a:bodyPr wrap="square" lIns="95250" tIns="95250" rIns="95250" bIns="95250" rtlCol="0" anchor="t">
            <a:spAutoFit/>
          </a:bodyPr>
          <a:lstStyle/>
          <a:p>
            <a:pPr marL="0" indent="0">
              <a:lnSpc>
                <a:spcPct val="100000"/>
              </a:lnSpc>
              <a:buNone/>
            </a:pPr>
            <a:r>
              <a:rPr lang="en-US" sz="1008" dirty="0">
                <a:solidFill>
                  <a:srgbClr val="00070F"/>
                </a:solidFill>
                <a:latin typeface="+mj-lt"/>
                <a:ea typeface="Noto Sans" pitchFamily="34" charset="-122"/>
                <a:cs typeface="Noto Sans" pitchFamily="34" charset="-120"/>
              </a:rPr>
              <a:t>Thiết kế trực quan, dễ sử dụng cho nhân viên quán cà phê.</a:t>
            </a:r>
            <a:endParaRPr lang="en-US" sz="1440" dirty="0">
              <a:latin typeface="+mj-lt"/>
            </a:endParaRPr>
          </a:p>
        </p:txBody>
      </p:sp>
      <p:sp>
        <p:nvSpPr>
          <p:cNvPr id="6" name="Text 3"/>
          <p:cNvSpPr/>
          <p:nvPr/>
        </p:nvSpPr>
        <p:spPr>
          <a:xfrm>
            <a:off x="5679183" y="1212236"/>
            <a:ext cx="3125154"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mj-lt"/>
                <a:ea typeface="Noto Sans" pitchFamily="34" charset="-122"/>
                <a:cs typeface="Noto Sans" pitchFamily="34" charset="-120"/>
              </a:rPr>
              <a:t>Phân loại sản phẩm</a:t>
            </a:r>
            <a:endParaRPr lang="en-US" sz="1440" dirty="0">
              <a:latin typeface="+mj-lt"/>
            </a:endParaRPr>
          </a:p>
        </p:txBody>
      </p:sp>
      <p:sp>
        <p:nvSpPr>
          <p:cNvPr id="7" name="Text 4"/>
          <p:cNvSpPr/>
          <p:nvPr/>
        </p:nvSpPr>
        <p:spPr>
          <a:xfrm>
            <a:off x="7047412" y="1527115"/>
            <a:ext cx="1985525"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mj-lt"/>
                <a:ea typeface="Noto Sans" pitchFamily="34" charset="-122"/>
                <a:cs typeface="Noto Sans" pitchFamily="34" charset="-120"/>
              </a:rPr>
              <a:t>Lọc theo danh mục cà phê, trà sữa, bánh ngọt.</a:t>
            </a:r>
            <a:endParaRPr lang="en-US" sz="1440" dirty="0">
              <a:latin typeface="+mj-lt"/>
            </a:endParaRPr>
          </a:p>
        </p:txBody>
      </p:sp>
      <p:sp>
        <p:nvSpPr>
          <p:cNvPr id="8" name="Text 5"/>
          <p:cNvSpPr/>
          <p:nvPr/>
        </p:nvSpPr>
        <p:spPr>
          <a:xfrm>
            <a:off x="216791" y="2721024"/>
            <a:ext cx="3115045"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mj-lt"/>
                <a:ea typeface="Noto Sans" pitchFamily="34" charset="-122"/>
                <a:cs typeface="Noto Sans" pitchFamily="34" charset="-120"/>
              </a:rPr>
              <a:t>Tìm kiếm nhanh chóng</a:t>
            </a:r>
            <a:endParaRPr lang="en-US" sz="1440" dirty="0">
              <a:latin typeface="+mj-lt"/>
            </a:endParaRPr>
          </a:p>
        </p:txBody>
      </p:sp>
      <p:sp>
        <p:nvSpPr>
          <p:cNvPr id="9" name="Text 6"/>
          <p:cNvSpPr/>
          <p:nvPr/>
        </p:nvSpPr>
        <p:spPr>
          <a:xfrm>
            <a:off x="287868" y="3198359"/>
            <a:ext cx="1893629"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mj-lt"/>
                <a:ea typeface="Noto Sans" pitchFamily="34" charset="-122"/>
                <a:cs typeface="Noto Sans" pitchFamily="34" charset="-120"/>
              </a:rPr>
              <a:t>Lọc sản phẩm theo tên, giảm thời gian tìm kiếm từ 30s xuống 5s.</a:t>
            </a:r>
            <a:endParaRPr lang="en-US" sz="1440" dirty="0">
              <a:latin typeface="+mj-lt"/>
            </a:endParaRPr>
          </a:p>
        </p:txBody>
      </p:sp>
      <p:sp>
        <p:nvSpPr>
          <p:cNvPr id="10" name="Text 7"/>
          <p:cNvSpPr/>
          <p:nvPr/>
        </p:nvSpPr>
        <p:spPr>
          <a:xfrm>
            <a:off x="5907783" y="2772768"/>
            <a:ext cx="3125154"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mj-lt"/>
                <a:ea typeface="Noto Sans" pitchFamily="34" charset="-122"/>
                <a:cs typeface="Noto Sans" pitchFamily="34" charset="-120"/>
              </a:rPr>
              <a:t>Tương tác thời gian thực</a:t>
            </a:r>
            <a:endParaRPr lang="en-US" sz="1440" dirty="0">
              <a:latin typeface="+mj-lt"/>
            </a:endParaRPr>
          </a:p>
        </p:txBody>
      </p:sp>
      <p:sp>
        <p:nvSpPr>
          <p:cNvPr id="11" name="Text 8"/>
          <p:cNvSpPr/>
          <p:nvPr/>
        </p:nvSpPr>
        <p:spPr>
          <a:xfrm>
            <a:off x="7047412" y="3143361"/>
            <a:ext cx="1809176"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mj-lt"/>
                <a:ea typeface="Noto Sans" pitchFamily="34" charset="-122"/>
                <a:cs typeface="Noto Sans" pitchFamily="34" charset="-120"/>
              </a:rPr>
              <a:t>Cập nhật giỏ hàng và tính tổng tiền tự động.</a:t>
            </a:r>
            <a:endParaRPr lang="en-US" sz="1440" dirty="0">
              <a:latin typeface="+mj-lt"/>
            </a:endParaRPr>
          </a:p>
        </p:txBody>
      </p:sp>
      <p:pic>
        <p:nvPicPr>
          <p:cNvPr id="12" name="Picture 11">
            <a:extLst>
              <a:ext uri="{FF2B5EF4-FFF2-40B4-BE49-F238E27FC236}">
                <a16:creationId xmlns:a16="http://schemas.microsoft.com/office/drawing/2014/main" id="{6C4F0E37-9763-B827-F64B-91BCB22040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840" y="1085801"/>
            <a:ext cx="4127228" cy="2673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92758" y="2423561"/>
            <a:ext cx="3799379" cy="539496"/>
          </a:xfrm>
          <a:prstGeom prst="rect">
            <a:avLst/>
          </a:prstGeom>
          <a:noFill/>
          <a:ln/>
        </p:spPr>
        <p:txBody>
          <a:bodyPr wrap="square" lIns="95250" tIns="95250" rIns="95250" bIns="95250" rtlCol="0" anchor="t"/>
          <a:lstStyle/>
          <a:p>
            <a:pPr marL="0" indent="0" algn="ctr">
              <a:lnSpc>
                <a:spcPct val="100000"/>
              </a:lnSpc>
              <a:spcBef>
                <a:spcPts val="375"/>
              </a:spcBef>
              <a:buNone/>
            </a:pPr>
            <a:r>
              <a:rPr lang="en-US" sz="2304" b="1" dirty="0">
                <a:solidFill>
                  <a:srgbClr val="FFFFFF"/>
                </a:solidFill>
                <a:latin typeface="Times New Roman" panose="02020603050405020304" pitchFamily="18" charset="0"/>
                <a:ea typeface="Noto Sans" pitchFamily="34" charset="-122"/>
                <a:cs typeface="Times New Roman" panose="02020603050405020304" pitchFamily="18" charset="0"/>
              </a:rPr>
              <a:t>Phân quyền người dùng</a:t>
            </a:r>
            <a:endParaRPr lang="en-US" sz="1440" dirty="0">
              <a:latin typeface="Times New Roman" panose="02020603050405020304" pitchFamily="18" charset="0"/>
              <a:cs typeface="Times New Roman" panose="02020603050405020304" pitchFamily="18" charset="0"/>
            </a:endParaRPr>
          </a:p>
        </p:txBody>
      </p:sp>
      <p:sp>
        <p:nvSpPr>
          <p:cNvPr id="3" name="Text 1"/>
          <p:cNvSpPr/>
          <p:nvPr/>
        </p:nvSpPr>
        <p:spPr>
          <a:xfrm>
            <a:off x="3276144" y="1127701"/>
            <a:ext cx="2591713" cy="1421287"/>
          </a:xfrm>
          <a:prstGeom prst="rect">
            <a:avLst/>
          </a:prstGeom>
          <a:noFill/>
          <a:ln/>
        </p:spPr>
        <p:txBody>
          <a:bodyPr wrap="square" lIns="95250" tIns="95250" rIns="95250" bIns="95250" rtlCol="0" anchor="ctr">
            <a:spAutoFit/>
          </a:bodyPr>
          <a:lstStyle/>
          <a:p>
            <a:pPr marL="0" indent="0" algn="ctr">
              <a:lnSpc>
                <a:spcPct val="112500"/>
              </a:lnSpc>
              <a:spcBef>
                <a:spcPts val="375"/>
              </a:spcBef>
              <a:buNone/>
            </a:pPr>
            <a:r>
              <a:rPr lang="vi-VN" sz="7488" b="1" dirty="0">
                <a:solidFill>
                  <a:srgbClr val="FFFFFF"/>
                </a:solidFill>
                <a:latin typeface="Times New Roman" panose="02020603050405020304" pitchFamily="18" charset="0"/>
                <a:ea typeface="Noto Sans" pitchFamily="34" charset="-122"/>
                <a:cs typeface="Times New Roman" panose="02020603050405020304" pitchFamily="18" charset="0"/>
              </a:rPr>
              <a:t>03</a:t>
            </a:r>
            <a:endParaRPr lang="en-US" sz="1440" dirty="0">
              <a:latin typeface="Times New Roman" panose="02020603050405020304" pitchFamily="18" charset="0"/>
              <a:cs typeface="Times New Roman" panose="02020603050405020304" pitchFamily="18" charset="0"/>
            </a:endParaRPr>
          </a:p>
        </p:txBody>
      </p:sp>
      <p:sp>
        <p:nvSpPr>
          <p:cNvPr id="4" name="Shape 2"/>
          <p:cNvSpPr/>
          <p:nvPr/>
        </p:nvSpPr>
        <p:spPr>
          <a:xfrm>
            <a:off x="4393087" y="3494108"/>
            <a:ext cx="357826" cy="0"/>
          </a:xfrm>
          <a:custGeom>
            <a:avLst/>
            <a:gdLst/>
            <a:ahLst/>
            <a:cxnLst/>
            <a:rect l="l" t="t" r="r" b="b"/>
            <a:pathLst>
              <a:path w="357826">
                <a:moveTo>
                  <a:pt x="0" y="0"/>
                </a:moveTo>
                <a:moveTo>
                  <a:pt x="0" y="0"/>
                </a:moveTo>
                <a:lnTo>
                  <a:pt x="357826" y="0"/>
                </a:lnTo>
              </a:path>
            </a:pathLst>
          </a:custGeom>
          <a:noFill/>
          <a:ln w="28575">
            <a:solidFill>
              <a:srgbClr val="EED7C0"/>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Quản trị viên toàn quyền</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3496157" y="2983631"/>
            <a:ext cx="2597458" cy="1623411"/>
          </a:xfrm>
          <a:custGeom>
            <a:avLst/>
            <a:gdLst/>
            <a:ahLst/>
            <a:cxnLst/>
            <a:rect l="l" t="t" r="r" b="b"/>
            <a:pathLst>
              <a:path w="2597458" h="1623411">
                <a:moveTo>
                  <a:pt x="0" y="0"/>
                </a:moveTo>
                <a:moveTo>
                  <a:pt x="0" y="0"/>
                </a:moveTo>
                <a:lnTo>
                  <a:pt x="2597458" y="0"/>
                </a:lnTo>
                <a:lnTo>
                  <a:pt x="2597458" y="1623411"/>
                </a:lnTo>
                <a:lnTo>
                  <a:pt x="0" y="1623411"/>
                </a:lnTo>
                <a:close/>
              </a:path>
            </a:pathLst>
          </a:custGeom>
          <a:solidFill>
            <a:srgbClr val="9B6047">
              <a:alpha val="10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6290510" y="1148143"/>
            <a:ext cx="2597458" cy="1623411"/>
          </a:xfrm>
          <a:custGeom>
            <a:avLst/>
            <a:gdLst/>
            <a:ahLst/>
            <a:cxnLst/>
            <a:rect l="l" t="t" r="r" b="b"/>
            <a:pathLst>
              <a:path w="2597458" h="1623411">
                <a:moveTo>
                  <a:pt x="0" y="0"/>
                </a:moveTo>
                <a:moveTo>
                  <a:pt x="0" y="0"/>
                </a:moveTo>
                <a:lnTo>
                  <a:pt x="2597458" y="0"/>
                </a:lnTo>
                <a:lnTo>
                  <a:pt x="2597458" y="1623411"/>
                </a:lnTo>
                <a:lnTo>
                  <a:pt x="0" y="1623411"/>
                </a:lnTo>
                <a:close/>
              </a:path>
            </a:pathLst>
          </a:custGeom>
          <a:solidFill>
            <a:srgbClr val="9B6047">
              <a:alpha val="10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256032" y="1148143"/>
            <a:ext cx="3036722" cy="3438144"/>
          </a:xfrm>
          <a:custGeom>
            <a:avLst/>
            <a:gdLst/>
            <a:ahLst/>
            <a:cxnLst/>
            <a:rect l="l" t="t" r="r" b="b"/>
            <a:pathLst>
              <a:path w="3036722" h="3438144">
                <a:moveTo>
                  <a:pt x="0" y="0"/>
                </a:moveTo>
                <a:moveTo>
                  <a:pt x="0" y="0"/>
                </a:moveTo>
                <a:lnTo>
                  <a:pt x="3036722" y="0"/>
                </a:lnTo>
                <a:lnTo>
                  <a:pt x="3036722" y="3438144"/>
                </a:lnTo>
                <a:lnTo>
                  <a:pt x="0" y="3438144"/>
                </a:lnTo>
                <a:close/>
              </a:path>
            </a:pathLst>
          </a:custGeom>
          <a:solidFill>
            <a:srgbClr val="9B6047">
              <a:alpha val="0"/>
            </a:srgbClr>
          </a:solidFill>
          <a:ln w="9525">
            <a:solidFill>
              <a:srgbClr val="9B6047"/>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388939" y="2877593"/>
            <a:ext cx="2699034" cy="0"/>
          </a:xfrm>
          <a:custGeom>
            <a:avLst/>
            <a:gdLst/>
            <a:ahLst/>
            <a:cxnLst/>
            <a:rect l="l" t="t" r="r" b="b"/>
            <a:pathLst>
              <a:path w="2699034">
                <a:moveTo>
                  <a:pt x="0" y="0"/>
                </a:moveTo>
                <a:moveTo>
                  <a:pt x="0" y="0"/>
                </a:moveTo>
                <a:lnTo>
                  <a:pt x="2699034" y="0"/>
                </a:lnTo>
              </a:path>
            </a:pathLst>
          </a:custGeom>
          <a:noFill/>
          <a:ln w="9525">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325519" y="1266110"/>
            <a:ext cx="2822506" cy="27603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Quản lý sản phẩm</a:t>
            </a:r>
            <a:endParaRPr lang="en-US" sz="1440" dirty="0">
              <a:latin typeface="Times New Roman" panose="02020603050405020304" pitchFamily="18" charset="0"/>
              <a:cs typeface="Times New Roman" panose="02020603050405020304" pitchFamily="18" charset="0"/>
            </a:endParaRPr>
          </a:p>
        </p:txBody>
      </p:sp>
      <p:pic>
        <p:nvPicPr>
          <p:cNvPr id="8" name="Image 0" descr="https://oceandoc-ai.obs.ap-southeast-3.myhuaweicloud.com:443/image_1766805029216_PytvyB.jpg"/>
          <p:cNvPicPr>
            <a:picLocks noChangeAspect="1"/>
          </p:cNvPicPr>
          <p:nvPr/>
        </p:nvPicPr>
        <p:blipFill>
          <a:blip r:embed="rId4"/>
          <a:srcRect t="18750" b="18750"/>
          <a:stretch/>
        </p:blipFill>
        <p:spPr>
          <a:xfrm>
            <a:off x="3496157" y="1148143"/>
            <a:ext cx="2597458" cy="1623411"/>
          </a:xfrm>
          <a:prstGeom prst="rect">
            <a:avLst/>
          </a:prstGeom>
        </p:spPr>
      </p:pic>
      <p:sp>
        <p:nvSpPr>
          <p:cNvPr id="9" name="Text 6"/>
          <p:cNvSpPr/>
          <p:nvPr/>
        </p:nvSpPr>
        <p:spPr>
          <a:xfrm>
            <a:off x="325519" y="1629459"/>
            <a:ext cx="2873624"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Thêm, sửa, xóa thông tin sản phẩm trong menu quán cà phê.</a:t>
            </a:r>
            <a:endParaRPr lang="en-US" sz="1440" dirty="0">
              <a:latin typeface="Times New Roman" panose="02020603050405020304" pitchFamily="18" charset="0"/>
              <a:cs typeface="Times New Roman" panose="02020603050405020304" pitchFamily="18" charset="0"/>
            </a:endParaRPr>
          </a:p>
        </p:txBody>
      </p:sp>
      <p:sp>
        <p:nvSpPr>
          <p:cNvPr id="10" name="Text 7"/>
          <p:cNvSpPr/>
          <p:nvPr/>
        </p:nvSpPr>
        <p:spPr>
          <a:xfrm>
            <a:off x="325519" y="3129464"/>
            <a:ext cx="2822506" cy="27603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Quản lý nhân viên</a:t>
            </a:r>
            <a:endParaRPr lang="en-US" sz="1440" dirty="0">
              <a:latin typeface="Times New Roman" panose="02020603050405020304" pitchFamily="18" charset="0"/>
              <a:cs typeface="Times New Roman" panose="02020603050405020304" pitchFamily="18" charset="0"/>
            </a:endParaRPr>
          </a:p>
        </p:txBody>
      </p:sp>
      <p:pic>
        <p:nvPicPr>
          <p:cNvPr id="11" name="Image 1" descr="https://oceandoc-ai.obs.ap-southeast-3.myhuaweicloud.com:443/image_1766805032821_duQgyH.jpg"/>
          <p:cNvPicPr>
            <a:picLocks noChangeAspect="1"/>
          </p:cNvPicPr>
          <p:nvPr/>
        </p:nvPicPr>
        <p:blipFill>
          <a:blip r:embed="rId5"/>
          <a:srcRect t="18750" b="18750"/>
          <a:stretch/>
        </p:blipFill>
        <p:spPr>
          <a:xfrm>
            <a:off x="6290510" y="2983631"/>
            <a:ext cx="2597458" cy="1623411"/>
          </a:xfrm>
          <a:prstGeom prst="rect">
            <a:avLst/>
          </a:prstGeom>
        </p:spPr>
      </p:pic>
      <p:sp>
        <p:nvSpPr>
          <p:cNvPr id="12" name="Text 8"/>
          <p:cNvSpPr/>
          <p:nvPr/>
        </p:nvSpPr>
        <p:spPr>
          <a:xfrm>
            <a:off x="325519" y="3477063"/>
            <a:ext cx="2873624"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Phân quyền và giám sát hoạt động của nhân viên bán hàng.</a:t>
            </a:r>
            <a:endParaRPr lang="en-US" sz="1440" dirty="0">
              <a:latin typeface="Times New Roman" panose="02020603050405020304" pitchFamily="18" charset="0"/>
              <a:cs typeface="Times New Roman" panose="02020603050405020304" pitchFamily="18" charset="0"/>
            </a:endParaRPr>
          </a:p>
        </p:txBody>
      </p:sp>
      <p:sp>
        <p:nvSpPr>
          <p:cNvPr id="13" name="Text 9"/>
          <p:cNvSpPr/>
          <p:nvPr/>
        </p:nvSpPr>
        <p:spPr>
          <a:xfrm>
            <a:off x="3555609" y="3175184"/>
            <a:ext cx="2382891" cy="27603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Báo cáo doanh thu</a:t>
            </a:r>
            <a:endParaRPr lang="en-US" sz="1440" dirty="0">
              <a:latin typeface="Times New Roman" panose="02020603050405020304" pitchFamily="18" charset="0"/>
              <a:cs typeface="Times New Roman" panose="02020603050405020304" pitchFamily="18" charset="0"/>
            </a:endParaRPr>
          </a:p>
        </p:txBody>
      </p:sp>
      <p:sp>
        <p:nvSpPr>
          <p:cNvPr id="14" name="Text 10"/>
          <p:cNvSpPr/>
          <p:nvPr/>
        </p:nvSpPr>
        <p:spPr>
          <a:xfrm>
            <a:off x="3555609" y="3522783"/>
            <a:ext cx="23828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Xem thống kê doanh thu theo ngày, tháng với biểu đồ trực quan.</a:t>
            </a:r>
            <a:endParaRPr lang="en-US" sz="1440" dirty="0">
              <a:latin typeface="Times New Roman" panose="02020603050405020304" pitchFamily="18" charset="0"/>
              <a:cs typeface="Times New Roman" panose="02020603050405020304" pitchFamily="18" charset="0"/>
            </a:endParaRPr>
          </a:p>
        </p:txBody>
      </p:sp>
      <p:sp>
        <p:nvSpPr>
          <p:cNvPr id="15" name="Text 11"/>
          <p:cNvSpPr/>
          <p:nvPr/>
        </p:nvSpPr>
        <p:spPr>
          <a:xfrm>
            <a:off x="6397794" y="1357550"/>
            <a:ext cx="2382891" cy="276034"/>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Quản lý hệ thống</a:t>
            </a:r>
            <a:endParaRPr lang="en-US" sz="1440" dirty="0">
              <a:latin typeface="Times New Roman" panose="02020603050405020304" pitchFamily="18" charset="0"/>
              <a:cs typeface="Times New Roman" panose="02020603050405020304" pitchFamily="18" charset="0"/>
            </a:endParaRPr>
          </a:p>
        </p:txBody>
      </p:sp>
      <p:sp>
        <p:nvSpPr>
          <p:cNvPr id="16" name="Text 12"/>
          <p:cNvSpPr/>
          <p:nvPr/>
        </p:nvSpPr>
        <p:spPr>
          <a:xfrm>
            <a:off x="6397794" y="1684323"/>
            <a:ext cx="2382891"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Kiểm soát toàn diện cơ sở dữ liệu và cấu hình hệ thống.</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Nhân viên xử lý đơn hàng</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390100" y="1187692"/>
            <a:ext cx="0" cy="3660054"/>
          </a:xfrm>
          <a:custGeom>
            <a:avLst/>
            <a:gdLst/>
            <a:ahLst/>
            <a:cxnLst/>
            <a:rect l="l" t="t" r="r" b="b"/>
            <a:pathLst>
              <a:path h="3660054">
                <a:moveTo>
                  <a:pt x="0" y="0"/>
                </a:moveTo>
                <a:moveTo>
                  <a:pt x="0" y="0"/>
                </a:moveTo>
                <a:lnTo>
                  <a:pt x="0" y="3660054"/>
                </a:lnTo>
              </a:path>
            </a:pathLst>
          </a:custGeom>
          <a:noFill/>
          <a:ln w="19736">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304842" y="1096096"/>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2504386" y="1187692"/>
            <a:ext cx="0" cy="3660054"/>
          </a:xfrm>
          <a:custGeom>
            <a:avLst/>
            <a:gdLst/>
            <a:ahLst/>
            <a:cxnLst/>
            <a:rect l="l" t="t" r="r" b="b"/>
            <a:pathLst>
              <a:path h="3660054">
                <a:moveTo>
                  <a:pt x="0" y="0"/>
                </a:moveTo>
                <a:moveTo>
                  <a:pt x="0" y="0"/>
                </a:moveTo>
                <a:lnTo>
                  <a:pt x="0" y="3660054"/>
                </a:lnTo>
              </a:path>
            </a:pathLst>
          </a:custGeom>
          <a:noFill/>
          <a:ln w="19736">
            <a:solidFill>
              <a:srgbClr val="CC6B38"/>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2409655" y="1096096"/>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CC6B38"/>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Shape 5"/>
          <p:cNvSpPr/>
          <p:nvPr/>
        </p:nvSpPr>
        <p:spPr>
          <a:xfrm>
            <a:off x="4661050" y="1187692"/>
            <a:ext cx="0" cy="3660054"/>
          </a:xfrm>
          <a:custGeom>
            <a:avLst/>
            <a:gdLst/>
            <a:ahLst/>
            <a:cxnLst/>
            <a:rect l="l" t="t" r="r" b="b"/>
            <a:pathLst>
              <a:path h="3660054">
                <a:moveTo>
                  <a:pt x="0" y="0"/>
                </a:moveTo>
                <a:moveTo>
                  <a:pt x="0" y="0"/>
                </a:moveTo>
                <a:lnTo>
                  <a:pt x="0" y="3660054"/>
                </a:lnTo>
              </a:path>
            </a:pathLst>
          </a:custGeom>
          <a:noFill/>
          <a:ln w="19736">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8" name="Shape 6"/>
          <p:cNvSpPr/>
          <p:nvPr/>
        </p:nvSpPr>
        <p:spPr>
          <a:xfrm>
            <a:off x="4566319" y="1096096"/>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6828200" y="1187692"/>
            <a:ext cx="0" cy="3660054"/>
          </a:xfrm>
          <a:custGeom>
            <a:avLst/>
            <a:gdLst/>
            <a:ahLst/>
            <a:cxnLst/>
            <a:rect l="l" t="t" r="r" b="b"/>
            <a:pathLst>
              <a:path h="3660054">
                <a:moveTo>
                  <a:pt x="0" y="0"/>
                </a:moveTo>
                <a:moveTo>
                  <a:pt x="0" y="0"/>
                </a:moveTo>
                <a:lnTo>
                  <a:pt x="0" y="3660054"/>
                </a:lnTo>
              </a:path>
            </a:pathLst>
          </a:custGeom>
          <a:noFill/>
          <a:ln w="19736">
            <a:solidFill>
              <a:srgbClr val="CC6B38"/>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8"/>
          <p:cNvSpPr/>
          <p:nvPr/>
        </p:nvSpPr>
        <p:spPr>
          <a:xfrm>
            <a:off x="6733469" y="1096096"/>
            <a:ext cx="189462" cy="189462"/>
          </a:xfrm>
          <a:custGeom>
            <a:avLst/>
            <a:gdLst/>
            <a:ahLst/>
            <a:cxnLst/>
            <a:rect l="l" t="t" r="r" b="b"/>
            <a:pathLst>
              <a:path w="189462" h="189462">
                <a:moveTo>
                  <a:pt x="94731" y="0"/>
                </a:moveTo>
                <a:moveTo>
                  <a:pt x="94731" y="0"/>
                </a:moveTo>
                <a:cubicBezTo>
                  <a:pt x="147014" y="0"/>
                  <a:pt x="189462" y="42448"/>
                  <a:pt x="189462" y="94731"/>
                </a:cubicBezTo>
                <a:cubicBezTo>
                  <a:pt x="189462" y="147014"/>
                  <a:pt x="147014" y="189462"/>
                  <a:pt x="94731" y="189462"/>
                </a:cubicBezTo>
                <a:cubicBezTo>
                  <a:pt x="42448" y="189462"/>
                  <a:pt x="0" y="147014"/>
                  <a:pt x="0" y="94731"/>
                </a:cubicBezTo>
                <a:cubicBezTo>
                  <a:pt x="0" y="42448"/>
                  <a:pt x="42448" y="0"/>
                  <a:pt x="94731" y="0"/>
                </a:cubicBezTo>
                <a:close/>
              </a:path>
            </a:pathLst>
          </a:custGeom>
          <a:solidFill>
            <a:srgbClr val="CC6B38"/>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484831" y="1380883"/>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Quy trình duyệt đơn</a:t>
            </a:r>
            <a:endParaRPr lang="en-US" sz="1440" dirty="0">
              <a:latin typeface="Times New Roman" panose="02020603050405020304" pitchFamily="18" charset="0"/>
              <a:cs typeface="Times New Roman" panose="02020603050405020304" pitchFamily="18" charset="0"/>
            </a:endParaRPr>
          </a:p>
        </p:txBody>
      </p:sp>
      <p:pic>
        <p:nvPicPr>
          <p:cNvPr id="12" name="Image 0" descr="https://oceandoc-ai.obs.ap-southeast-3.myhuaweicloud.com:443/image_1766805032350_JjAAHa.jpg"/>
          <p:cNvPicPr>
            <a:picLocks noChangeAspect="1"/>
          </p:cNvPicPr>
          <p:nvPr/>
        </p:nvPicPr>
        <p:blipFill>
          <a:blip r:embed="rId4"/>
          <a:srcRect t="10000" b="10000"/>
          <a:stretch/>
        </p:blipFill>
        <p:spPr>
          <a:xfrm>
            <a:off x="484632" y="3348104"/>
            <a:ext cx="1875434" cy="1499616"/>
          </a:xfrm>
          <a:prstGeom prst="rect">
            <a:avLst/>
          </a:prstGeom>
        </p:spPr>
      </p:pic>
      <p:sp>
        <p:nvSpPr>
          <p:cNvPr id="13" name="Text 10"/>
          <p:cNvSpPr/>
          <p:nvPr/>
        </p:nvSpPr>
        <p:spPr>
          <a:xfrm>
            <a:off x="484831" y="1877608"/>
            <a:ext cx="195313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Nhân viên kiểm tra đơn hàng chờ duyệt, xác nhận và cập nhật trạng thái.</a:t>
            </a:r>
            <a:endParaRPr lang="en-US" sz="1440" dirty="0">
              <a:latin typeface="Times New Roman" panose="02020603050405020304" pitchFamily="18" charset="0"/>
              <a:cs typeface="Times New Roman" panose="02020603050405020304" pitchFamily="18" charset="0"/>
            </a:endParaRPr>
          </a:p>
        </p:txBody>
      </p:sp>
      <p:sp>
        <p:nvSpPr>
          <p:cNvPr id="14" name="Text 11"/>
          <p:cNvSpPr/>
          <p:nvPr/>
        </p:nvSpPr>
        <p:spPr>
          <a:xfrm>
            <a:off x="2615405" y="1380883"/>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Định danh nhân viên</a:t>
            </a:r>
            <a:endParaRPr lang="en-US" sz="1440" dirty="0">
              <a:latin typeface="Times New Roman" panose="02020603050405020304" pitchFamily="18" charset="0"/>
              <a:cs typeface="Times New Roman" panose="02020603050405020304" pitchFamily="18" charset="0"/>
            </a:endParaRPr>
          </a:p>
        </p:txBody>
      </p:sp>
      <p:pic>
        <p:nvPicPr>
          <p:cNvPr id="15" name="Image 1" descr="https://oceandoc-ai.obs.ap-southeast-3.myhuaweicloud.com:443/image_1766805036505_rK8OXA.jpg"/>
          <p:cNvPicPr>
            <a:picLocks noChangeAspect="1"/>
          </p:cNvPicPr>
          <p:nvPr/>
        </p:nvPicPr>
        <p:blipFill>
          <a:blip r:embed="rId5"/>
          <a:srcRect t="10000" b="10000"/>
          <a:stretch/>
        </p:blipFill>
        <p:spPr>
          <a:xfrm>
            <a:off x="2648705" y="3348104"/>
            <a:ext cx="1875434" cy="1499616"/>
          </a:xfrm>
          <a:prstGeom prst="rect">
            <a:avLst/>
          </a:prstGeom>
        </p:spPr>
      </p:pic>
      <p:sp>
        <p:nvSpPr>
          <p:cNvPr id="16" name="Text 12"/>
          <p:cNvSpPr/>
          <p:nvPr/>
        </p:nvSpPr>
        <p:spPr>
          <a:xfrm>
            <a:off x="2615405" y="1877608"/>
            <a:ext cx="195313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Hệ thống tự động ghi nhận tên tài khoản nhân viên duyệt đơn vào trường created_by.</a:t>
            </a:r>
            <a:endParaRPr lang="en-US" sz="1440" dirty="0">
              <a:latin typeface="Times New Roman" panose="02020603050405020304" pitchFamily="18" charset="0"/>
              <a:cs typeface="Times New Roman" panose="02020603050405020304" pitchFamily="18" charset="0"/>
            </a:endParaRPr>
          </a:p>
        </p:txBody>
      </p:sp>
      <p:sp>
        <p:nvSpPr>
          <p:cNvPr id="17" name="Text 13"/>
          <p:cNvSpPr/>
          <p:nvPr/>
        </p:nvSpPr>
        <p:spPr>
          <a:xfrm>
            <a:off x="4755452" y="1380883"/>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Thanh toán và lưu kho</a:t>
            </a:r>
            <a:endParaRPr lang="en-US" sz="1440" dirty="0">
              <a:latin typeface="Times New Roman" panose="02020603050405020304" pitchFamily="18" charset="0"/>
              <a:cs typeface="Times New Roman" panose="02020603050405020304" pitchFamily="18" charset="0"/>
            </a:endParaRPr>
          </a:p>
        </p:txBody>
      </p:sp>
      <p:pic>
        <p:nvPicPr>
          <p:cNvPr id="18" name="Image 2" descr="https://oceandoc-ai.obs.ap-southeast-3.myhuaweicloud.com:443/image_1766805040217_4uIDAg.jpg"/>
          <p:cNvPicPr>
            <a:picLocks noChangeAspect="1"/>
          </p:cNvPicPr>
          <p:nvPr/>
        </p:nvPicPr>
        <p:blipFill>
          <a:blip r:embed="rId6"/>
          <a:srcRect t="10000" b="10000"/>
          <a:stretch/>
        </p:blipFill>
        <p:spPr>
          <a:xfrm>
            <a:off x="4812778" y="3348104"/>
            <a:ext cx="1875434" cy="1499616"/>
          </a:xfrm>
          <a:prstGeom prst="rect">
            <a:avLst/>
          </a:prstGeom>
        </p:spPr>
      </p:pic>
      <p:sp>
        <p:nvSpPr>
          <p:cNvPr id="19" name="Text 14"/>
          <p:cNvSpPr/>
          <p:nvPr/>
        </p:nvSpPr>
        <p:spPr>
          <a:xfrm>
            <a:off x="4755452" y="1877608"/>
            <a:ext cx="195313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Sau duyệt đơn, hệ thống giảm tồn kho và lưu thông tin vào bảng orders.</a:t>
            </a:r>
            <a:endParaRPr lang="en-US" sz="1440" dirty="0">
              <a:latin typeface="Times New Roman" panose="02020603050405020304" pitchFamily="18" charset="0"/>
              <a:cs typeface="Times New Roman" panose="02020603050405020304" pitchFamily="18" charset="0"/>
            </a:endParaRPr>
          </a:p>
        </p:txBody>
      </p:sp>
      <p:sp>
        <p:nvSpPr>
          <p:cNvPr id="20" name="Text 15"/>
          <p:cNvSpPr/>
          <p:nvPr/>
        </p:nvSpPr>
        <p:spPr>
          <a:xfrm>
            <a:off x="6886026" y="1380883"/>
            <a:ext cx="1953132" cy="422585"/>
          </a:xfrm>
          <a:prstGeom prst="rect">
            <a:avLst/>
          </a:prstGeom>
          <a:noFill/>
          <a:ln/>
        </p:spPr>
        <p:txBody>
          <a:bodyPr wrap="square" lIns="95250" tIns="95250" rIns="95250" bIns="95250" rtlCol="0" anchor="ct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In hóa đơn</a:t>
            </a:r>
            <a:endParaRPr lang="en-US" sz="1440" dirty="0">
              <a:latin typeface="Times New Roman" panose="02020603050405020304" pitchFamily="18" charset="0"/>
              <a:cs typeface="Times New Roman" panose="02020603050405020304" pitchFamily="18" charset="0"/>
            </a:endParaRPr>
          </a:p>
        </p:txBody>
      </p:sp>
      <p:pic>
        <p:nvPicPr>
          <p:cNvPr id="21" name="Image 3" descr="https://oceandoc-ai.obs.ap-southeast-3.myhuaweicloud.com:443/image_1766805043651_D0l6ud.jpg"/>
          <p:cNvPicPr>
            <a:picLocks noChangeAspect="1"/>
          </p:cNvPicPr>
          <p:nvPr/>
        </p:nvPicPr>
        <p:blipFill>
          <a:blip r:embed="rId7"/>
          <a:srcRect t="10000" b="10000"/>
          <a:stretch/>
        </p:blipFill>
        <p:spPr>
          <a:xfrm>
            <a:off x="6976851" y="3348104"/>
            <a:ext cx="1875434" cy="1499616"/>
          </a:xfrm>
          <a:prstGeom prst="rect">
            <a:avLst/>
          </a:prstGeom>
        </p:spPr>
      </p:pic>
      <p:sp>
        <p:nvSpPr>
          <p:cNvPr id="22" name="Text 16"/>
          <p:cNvSpPr/>
          <p:nvPr/>
        </p:nvSpPr>
        <p:spPr>
          <a:xfrm>
            <a:off x="6886026" y="1877608"/>
            <a:ext cx="195313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Hệ thống hỗ trợ xuất hóa đơn PDF với đầy đủ thông tin sản phẩm và giá trị.</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Đăng nhập bảo mật</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3256217" y="1255967"/>
            <a:ext cx="2631566" cy="2631566"/>
          </a:xfrm>
          <a:custGeom>
            <a:avLst/>
            <a:gdLst/>
            <a:ahLst/>
            <a:cxnLst/>
            <a:rect l="l" t="t" r="r" b="b"/>
            <a:pathLst>
              <a:path w="2631566" h="2631566">
                <a:moveTo>
                  <a:pt x="1315783" y="0"/>
                </a:moveTo>
                <a:moveTo>
                  <a:pt x="1315783" y="0"/>
                </a:moveTo>
                <a:cubicBezTo>
                  <a:pt x="2041983" y="0"/>
                  <a:pt x="2631566" y="589583"/>
                  <a:pt x="2631566" y="1315783"/>
                </a:cubicBezTo>
                <a:cubicBezTo>
                  <a:pt x="2631566" y="2041983"/>
                  <a:pt x="2041983" y="2631566"/>
                  <a:pt x="1315783" y="2631566"/>
                </a:cubicBezTo>
                <a:cubicBezTo>
                  <a:pt x="589583" y="2631566"/>
                  <a:pt x="0" y="2041983"/>
                  <a:pt x="0" y="1315783"/>
                </a:cubicBezTo>
                <a:cubicBezTo>
                  <a:pt x="0" y="589583"/>
                  <a:pt x="589583" y="0"/>
                  <a:pt x="1315783" y="0"/>
                </a:cubicBezTo>
                <a:close/>
              </a:path>
            </a:pathLst>
          </a:custGeom>
          <a:solidFill>
            <a:srgbClr val="9B6047">
              <a:alpha val="20000"/>
            </a:srgbClr>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4"/>
          <a:stretch>
            <a:fillRect/>
          </a:stretch>
        </p:blipFill>
        <p:spPr>
          <a:xfrm>
            <a:off x="3380602" y="1398682"/>
            <a:ext cx="2382795" cy="2346137"/>
          </a:xfrm>
          <a:prstGeom prst="rect">
            <a:avLst/>
          </a:prstGeom>
        </p:spPr>
      </p:pic>
      <p:sp>
        <p:nvSpPr>
          <p:cNvPr id="5" name="Text 2"/>
          <p:cNvSpPr/>
          <p:nvPr/>
        </p:nvSpPr>
        <p:spPr>
          <a:xfrm>
            <a:off x="258693" y="939111"/>
            <a:ext cx="2833736"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Xác thực người dùng</a:t>
            </a:r>
            <a:endParaRPr lang="en-US" sz="1440" dirty="0">
              <a:latin typeface="Times New Roman" panose="02020603050405020304" pitchFamily="18" charset="0"/>
              <a:cs typeface="Times New Roman" panose="02020603050405020304" pitchFamily="18" charset="0"/>
            </a:endParaRPr>
          </a:p>
        </p:txBody>
      </p:sp>
      <p:sp>
        <p:nvSpPr>
          <p:cNvPr id="6" name="Text 3"/>
          <p:cNvSpPr/>
          <p:nvPr/>
        </p:nvSpPr>
        <p:spPr>
          <a:xfrm>
            <a:off x="253537" y="1370708"/>
            <a:ext cx="2838893" cy="502573"/>
          </a:xfrm>
          <a:prstGeom prst="rect">
            <a:avLst/>
          </a:prstGeom>
          <a:noFill/>
          <a:ln/>
        </p:spPr>
        <p:txBody>
          <a:bodyPr wrap="square" lIns="95250" tIns="95250" rIns="95250" bIns="95250" rtlCol="0" anchor="t">
            <a:spAutoFit/>
          </a:bodyPr>
          <a:lstStyle/>
          <a:p>
            <a:pPr marL="0" indent="0" algn="r">
              <a:lnSpc>
                <a:spcPct val="100000"/>
              </a:lnSpc>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Hệ thống yêu cầu tên đăng nhập và mật khẩu để truy cập.</a:t>
            </a:r>
            <a:endParaRPr lang="en-US" sz="1440" dirty="0">
              <a:latin typeface="Times New Roman" panose="02020603050405020304" pitchFamily="18" charset="0"/>
              <a:cs typeface="Times New Roman" panose="02020603050405020304" pitchFamily="18" charset="0"/>
            </a:endParaRPr>
          </a:p>
        </p:txBody>
      </p:sp>
      <p:sp>
        <p:nvSpPr>
          <p:cNvPr id="7" name="Text 4"/>
          <p:cNvSpPr/>
          <p:nvPr/>
        </p:nvSpPr>
        <p:spPr>
          <a:xfrm>
            <a:off x="6002866" y="939111"/>
            <a:ext cx="2874389"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Phân quyền vai trò</a:t>
            </a:r>
            <a:endParaRPr lang="en-US" sz="1440" dirty="0">
              <a:latin typeface="Times New Roman" panose="02020603050405020304" pitchFamily="18" charset="0"/>
              <a:cs typeface="Times New Roman" panose="02020603050405020304" pitchFamily="18" charset="0"/>
            </a:endParaRPr>
          </a:p>
        </p:txBody>
      </p:sp>
      <p:sp>
        <p:nvSpPr>
          <p:cNvPr id="8" name="Text 5"/>
          <p:cNvSpPr/>
          <p:nvPr/>
        </p:nvSpPr>
        <p:spPr>
          <a:xfrm>
            <a:off x="6002866" y="1370686"/>
            <a:ext cx="2869730"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Điều hướng người dùng đến trang chức năng phù hợp theo vai trò.</a:t>
            </a:r>
            <a:endParaRPr lang="en-US" sz="1440" dirty="0">
              <a:latin typeface="Times New Roman" panose="02020603050405020304" pitchFamily="18" charset="0"/>
              <a:cs typeface="Times New Roman" panose="02020603050405020304" pitchFamily="18" charset="0"/>
            </a:endParaRPr>
          </a:p>
        </p:txBody>
      </p:sp>
      <p:sp>
        <p:nvSpPr>
          <p:cNvPr id="9" name="Text 6"/>
          <p:cNvSpPr/>
          <p:nvPr/>
        </p:nvSpPr>
        <p:spPr>
          <a:xfrm>
            <a:off x="258693" y="3171161"/>
            <a:ext cx="2833736"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Đăng ký tài khoản</a:t>
            </a:r>
            <a:endParaRPr lang="en-US" sz="1440" dirty="0">
              <a:latin typeface="Times New Roman" panose="02020603050405020304" pitchFamily="18" charset="0"/>
              <a:cs typeface="Times New Roman" panose="02020603050405020304" pitchFamily="18" charset="0"/>
            </a:endParaRPr>
          </a:p>
        </p:txBody>
      </p:sp>
      <p:sp>
        <p:nvSpPr>
          <p:cNvPr id="10" name="Text 7"/>
          <p:cNvSpPr/>
          <p:nvPr/>
        </p:nvSpPr>
        <p:spPr>
          <a:xfrm>
            <a:off x="253537" y="3595443"/>
            <a:ext cx="2838893" cy="502573"/>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Tạo tài khoản mới qua hộp thoại không cần chuyển trang.</a:t>
            </a:r>
            <a:endParaRPr lang="en-US" sz="1440" dirty="0">
              <a:latin typeface="Times New Roman" panose="02020603050405020304" pitchFamily="18" charset="0"/>
              <a:cs typeface="Times New Roman" panose="02020603050405020304" pitchFamily="18" charset="0"/>
            </a:endParaRPr>
          </a:p>
        </p:txBody>
      </p:sp>
      <p:sp>
        <p:nvSpPr>
          <p:cNvPr id="11" name="Text 8"/>
          <p:cNvSpPr/>
          <p:nvPr/>
        </p:nvSpPr>
        <p:spPr>
          <a:xfrm>
            <a:off x="6002866" y="3171139"/>
            <a:ext cx="2874389"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Kiểm tra dữ liệu</a:t>
            </a:r>
            <a:endParaRPr lang="en-US" sz="1440" dirty="0">
              <a:latin typeface="Times New Roman" panose="02020603050405020304" pitchFamily="18" charset="0"/>
              <a:cs typeface="Times New Roman" panose="02020603050405020304" pitchFamily="18" charset="0"/>
            </a:endParaRPr>
          </a:p>
        </p:txBody>
      </p:sp>
      <p:sp>
        <p:nvSpPr>
          <p:cNvPr id="12" name="Text 9"/>
          <p:cNvSpPr/>
          <p:nvPr/>
        </p:nvSpPr>
        <p:spPr>
          <a:xfrm>
            <a:off x="6002866" y="3595443"/>
            <a:ext cx="2869730"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JavaScript kiểm tra tính hợp lệ của mật khẩu ngay tại trình duyệt.</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Quản lý phiên làm việc</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489857" y="1001727"/>
            <a:ext cx="8164286" cy="0"/>
          </a:xfrm>
          <a:custGeom>
            <a:avLst/>
            <a:gdLst/>
            <a:ahLst/>
            <a:cxnLst/>
            <a:rect l="l" t="t" r="r" b="b"/>
            <a:pathLst>
              <a:path w="8164286">
                <a:moveTo>
                  <a:pt x="0" y="0"/>
                </a:moveTo>
                <a:moveTo>
                  <a:pt x="0" y="0"/>
                </a:moveTo>
                <a:lnTo>
                  <a:pt x="8164286" y="0"/>
                </a:lnTo>
              </a:path>
            </a:pathLst>
          </a:custGeom>
          <a:noFill/>
          <a:ln w="19050">
            <a:solidFill>
              <a:srgbClr val="9B6047"/>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4"/>
          <a:stretch>
            <a:fillRect/>
          </a:stretch>
        </p:blipFill>
        <p:spPr>
          <a:xfrm>
            <a:off x="2869416" y="768754"/>
            <a:ext cx="1301272" cy="539098"/>
          </a:xfrm>
          <a:prstGeom prst="rect">
            <a:avLst/>
          </a:prstGeom>
        </p:spPr>
      </p:pic>
      <p:pic>
        <p:nvPicPr>
          <p:cNvPr id="5" name="Image 1" descr="preencoded.png"/>
          <p:cNvPicPr>
            <a:picLocks noChangeAspect="1"/>
          </p:cNvPicPr>
          <p:nvPr/>
        </p:nvPicPr>
        <p:blipFill>
          <a:blip r:embed="rId5"/>
          <a:stretch>
            <a:fillRect/>
          </a:stretch>
        </p:blipFill>
        <p:spPr>
          <a:xfrm>
            <a:off x="457386" y="1366180"/>
            <a:ext cx="1917542" cy="3189051"/>
          </a:xfrm>
          <a:prstGeom prst="rect">
            <a:avLst/>
          </a:prstGeom>
        </p:spPr>
      </p:pic>
      <p:sp>
        <p:nvSpPr>
          <p:cNvPr id="6" name="Shape 2"/>
          <p:cNvSpPr/>
          <p:nvPr/>
        </p:nvSpPr>
        <p:spPr>
          <a:xfrm>
            <a:off x="528470"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3"/>
          <p:cNvSpPr/>
          <p:nvPr/>
        </p:nvSpPr>
        <p:spPr>
          <a:xfrm>
            <a:off x="625092"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1</a:t>
            </a:r>
            <a:endParaRPr lang="en-US" sz="1440" dirty="0">
              <a:latin typeface="Times New Roman" panose="02020603050405020304" pitchFamily="18" charset="0"/>
              <a:cs typeface="Times New Roman" panose="02020603050405020304" pitchFamily="18" charset="0"/>
            </a:endParaRPr>
          </a:p>
        </p:txBody>
      </p:sp>
      <p:sp>
        <p:nvSpPr>
          <p:cNvPr id="8" name="Shape 4"/>
          <p:cNvSpPr/>
          <p:nvPr/>
        </p:nvSpPr>
        <p:spPr>
          <a:xfrm>
            <a:off x="574311"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5"/>
          <p:cNvSpPr/>
          <p:nvPr/>
        </p:nvSpPr>
        <p:spPr>
          <a:xfrm>
            <a:off x="2561282" y="1366180"/>
            <a:ext cx="1917542" cy="3189051"/>
          </a:xfrm>
          <a:custGeom>
            <a:avLst/>
            <a:gdLst/>
            <a:ahLst/>
            <a:cxnLst/>
            <a:rect l="l" t="t" r="r" b="b"/>
            <a:pathLst>
              <a:path w="1917542" h="3189051">
                <a:moveTo>
                  <a:pt x="137206" y="0"/>
                </a:moveTo>
                <a:moveTo>
                  <a:pt x="137206" y="0"/>
                </a:moveTo>
                <a:lnTo>
                  <a:pt x="1780335" y="0"/>
                </a:lnTo>
                <a:quadBezTo>
                  <a:pt x="1917542" y="0"/>
                  <a:pt x="1917542" y="153991"/>
                </a:quadBezTo>
                <a:lnTo>
                  <a:pt x="1917542" y="3035060"/>
                </a:lnTo>
                <a:quadBezTo>
                  <a:pt x="1917542" y="3189051"/>
                  <a:pt x="1780335" y="3189051"/>
                </a:quadBezTo>
                <a:lnTo>
                  <a:pt x="137206" y="3189051"/>
                </a:lnTo>
                <a:quadBezTo>
                  <a:pt x="0" y="3189051"/>
                  <a:pt x="0" y="3035060"/>
                </a:quadBezTo>
                <a:lnTo>
                  <a:pt x="0" y="153991"/>
                </a:lnTo>
                <a:quadBezTo>
                  <a:pt x="0" y="0"/>
                  <a:pt x="137206" y="0"/>
                </a:quadBezTo>
                <a:close/>
              </a:path>
            </a:pathLst>
          </a:custGeom>
          <a:solidFill>
            <a:srgbClr val="9B6047"/>
          </a:solidFill>
          <a:ln w="9525">
            <a:solidFill>
              <a:srgbClr val="9B6047">
                <a:alpha val="45882"/>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6"/>
          <p:cNvSpPr/>
          <p:nvPr/>
        </p:nvSpPr>
        <p:spPr>
          <a:xfrm>
            <a:off x="2632365"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FFFFFF"/>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7"/>
          <p:cNvSpPr/>
          <p:nvPr/>
        </p:nvSpPr>
        <p:spPr>
          <a:xfrm>
            <a:off x="2728987"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9B6047"/>
                </a:solidFill>
                <a:latin typeface="Times New Roman" panose="02020603050405020304" pitchFamily="18" charset="0"/>
                <a:ea typeface="Noto Sans" pitchFamily="34" charset="-122"/>
                <a:cs typeface="Times New Roman" panose="02020603050405020304" pitchFamily="18" charset="0"/>
              </a:rPr>
              <a:t>2</a:t>
            </a:r>
            <a:endParaRPr lang="en-US" sz="1440" dirty="0">
              <a:latin typeface="Times New Roman" panose="02020603050405020304" pitchFamily="18" charset="0"/>
              <a:cs typeface="Times New Roman" panose="02020603050405020304" pitchFamily="18" charset="0"/>
            </a:endParaRPr>
          </a:p>
        </p:txBody>
      </p:sp>
      <p:sp>
        <p:nvSpPr>
          <p:cNvPr id="12" name="Shape 8"/>
          <p:cNvSpPr/>
          <p:nvPr/>
        </p:nvSpPr>
        <p:spPr>
          <a:xfrm>
            <a:off x="2678207" y="2295077"/>
            <a:ext cx="1800616" cy="0"/>
          </a:xfrm>
          <a:custGeom>
            <a:avLst/>
            <a:gdLst/>
            <a:ahLst/>
            <a:cxnLst/>
            <a:rect l="l" t="t" r="r" b="b"/>
            <a:pathLst>
              <a:path w="1800616">
                <a:moveTo>
                  <a:pt x="0" y="0"/>
                </a:moveTo>
                <a:moveTo>
                  <a:pt x="0" y="0"/>
                </a:moveTo>
                <a:lnTo>
                  <a:pt x="1800616" y="0"/>
                </a:lnTo>
              </a:path>
            </a:pathLst>
          </a:custGeom>
          <a:noFill/>
          <a:ln w="9525">
            <a:solidFill>
              <a:srgbClr val="FFFFFF">
                <a:alpha val="29020"/>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5"/>
          <a:stretch>
            <a:fillRect/>
          </a:stretch>
        </p:blipFill>
        <p:spPr>
          <a:xfrm>
            <a:off x="4665177" y="1366180"/>
            <a:ext cx="1917542" cy="3189051"/>
          </a:xfrm>
          <a:prstGeom prst="rect">
            <a:avLst/>
          </a:prstGeom>
        </p:spPr>
      </p:pic>
      <p:sp>
        <p:nvSpPr>
          <p:cNvPr id="14" name="Shape 9"/>
          <p:cNvSpPr/>
          <p:nvPr/>
        </p:nvSpPr>
        <p:spPr>
          <a:xfrm>
            <a:off x="4736261"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0"/>
          <p:cNvSpPr/>
          <p:nvPr/>
        </p:nvSpPr>
        <p:spPr>
          <a:xfrm>
            <a:off x="4832883"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3</a:t>
            </a:r>
            <a:endParaRPr lang="en-US" sz="1440" dirty="0">
              <a:latin typeface="Times New Roman" panose="02020603050405020304" pitchFamily="18" charset="0"/>
              <a:cs typeface="Times New Roman" panose="02020603050405020304" pitchFamily="18" charset="0"/>
            </a:endParaRPr>
          </a:p>
        </p:txBody>
      </p:sp>
      <p:sp>
        <p:nvSpPr>
          <p:cNvPr id="16" name="Shape 11"/>
          <p:cNvSpPr/>
          <p:nvPr/>
        </p:nvSpPr>
        <p:spPr>
          <a:xfrm>
            <a:off x="4782102"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pic>
        <p:nvPicPr>
          <p:cNvPr id="17" name="Image 3" descr="preencoded.png"/>
          <p:cNvPicPr>
            <a:picLocks noChangeAspect="1"/>
          </p:cNvPicPr>
          <p:nvPr/>
        </p:nvPicPr>
        <p:blipFill>
          <a:blip r:embed="rId5"/>
          <a:stretch>
            <a:fillRect/>
          </a:stretch>
        </p:blipFill>
        <p:spPr>
          <a:xfrm>
            <a:off x="6769072" y="1366180"/>
            <a:ext cx="1917542" cy="3189051"/>
          </a:xfrm>
          <a:prstGeom prst="rect">
            <a:avLst/>
          </a:prstGeom>
        </p:spPr>
      </p:pic>
      <p:sp>
        <p:nvSpPr>
          <p:cNvPr id="18" name="Shape 12"/>
          <p:cNvSpPr/>
          <p:nvPr/>
        </p:nvSpPr>
        <p:spPr>
          <a:xfrm>
            <a:off x="6840156" y="4041909"/>
            <a:ext cx="838796" cy="313151"/>
          </a:xfrm>
          <a:custGeom>
            <a:avLst/>
            <a:gdLst/>
            <a:ahLst/>
            <a:cxnLst/>
            <a:rect l="l" t="t" r="r" b="b"/>
            <a:pathLst>
              <a:path w="838796" h="313151">
                <a:moveTo>
                  <a:pt x="156575" y="0"/>
                </a:moveTo>
                <a:moveTo>
                  <a:pt x="156575" y="0"/>
                </a:moveTo>
                <a:lnTo>
                  <a:pt x="682221" y="0"/>
                </a:lnTo>
                <a:quadBezTo>
                  <a:pt x="838796" y="0"/>
                  <a:pt x="838796" y="156575"/>
                </a:quadBezTo>
                <a:lnTo>
                  <a:pt x="838796" y="156575"/>
                </a:lnTo>
                <a:quadBezTo>
                  <a:pt x="838796" y="313151"/>
                  <a:pt x="682221" y="313151"/>
                </a:quadBezTo>
                <a:lnTo>
                  <a:pt x="156575" y="313151"/>
                </a:lnTo>
                <a:quadBezTo>
                  <a:pt x="0" y="313151"/>
                  <a:pt x="0" y="156575"/>
                </a:quadBezTo>
                <a:lnTo>
                  <a:pt x="0" y="156575"/>
                </a:lnTo>
                <a:quadBezTo>
                  <a:pt x="0" y="0"/>
                  <a:pt x="156575" y="0"/>
                </a:quadBez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3"/>
          <p:cNvSpPr/>
          <p:nvPr/>
        </p:nvSpPr>
        <p:spPr>
          <a:xfrm>
            <a:off x="6936778" y="3942452"/>
            <a:ext cx="645553" cy="46968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1728" b="1" dirty="0">
                <a:solidFill>
                  <a:srgbClr val="FFFFFF"/>
                </a:solidFill>
                <a:latin typeface="Times New Roman" panose="02020603050405020304" pitchFamily="18" charset="0"/>
                <a:ea typeface="Noto Sans" pitchFamily="34" charset="-122"/>
                <a:cs typeface="Times New Roman" panose="02020603050405020304" pitchFamily="18" charset="0"/>
              </a:rPr>
              <a:t>4</a:t>
            </a:r>
            <a:endParaRPr lang="en-US" sz="1440" dirty="0">
              <a:latin typeface="Times New Roman" panose="02020603050405020304" pitchFamily="18" charset="0"/>
              <a:cs typeface="Times New Roman" panose="02020603050405020304" pitchFamily="18" charset="0"/>
            </a:endParaRPr>
          </a:p>
        </p:txBody>
      </p:sp>
      <p:sp>
        <p:nvSpPr>
          <p:cNvPr id="20" name="Shape 14"/>
          <p:cNvSpPr/>
          <p:nvPr/>
        </p:nvSpPr>
        <p:spPr>
          <a:xfrm>
            <a:off x="6885997" y="2295077"/>
            <a:ext cx="1800616" cy="0"/>
          </a:xfrm>
          <a:custGeom>
            <a:avLst/>
            <a:gdLst/>
            <a:ahLst/>
            <a:cxnLst/>
            <a:rect l="l" t="t" r="r" b="b"/>
            <a:pathLst>
              <a:path w="1800616">
                <a:moveTo>
                  <a:pt x="0" y="0"/>
                </a:moveTo>
                <a:moveTo>
                  <a:pt x="0" y="0"/>
                </a:moveTo>
                <a:lnTo>
                  <a:pt x="1800616" y="0"/>
                </a:lnTo>
              </a:path>
            </a:pathLst>
          </a:custGeom>
          <a:noFill/>
          <a:ln w="9525">
            <a:solidFill>
              <a:srgbClr val="9B6047">
                <a:alpha val="21961"/>
              </a:srgbClr>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5"/>
          <p:cNvSpPr/>
          <p:nvPr/>
        </p:nvSpPr>
        <p:spPr>
          <a:xfrm>
            <a:off x="455517" y="1622847"/>
            <a:ext cx="1919411"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Xác thực người dùng</a:t>
            </a:r>
            <a:endParaRPr lang="en-US" sz="1440" dirty="0">
              <a:latin typeface="Times New Roman" panose="02020603050405020304" pitchFamily="18" charset="0"/>
              <a:cs typeface="Times New Roman" panose="02020603050405020304" pitchFamily="18" charset="0"/>
            </a:endParaRPr>
          </a:p>
        </p:txBody>
      </p:sp>
      <p:sp>
        <p:nvSpPr>
          <p:cNvPr id="22" name="Text 16"/>
          <p:cNvSpPr/>
          <p:nvPr/>
        </p:nvSpPr>
        <p:spPr>
          <a:xfrm>
            <a:off x="457386" y="2294733"/>
            <a:ext cx="191754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Đối chiếu thông tin đăng nhập với bảng users trong cơ sở dữ liệu.</a:t>
            </a:r>
            <a:endParaRPr lang="en-US" sz="1440" dirty="0">
              <a:latin typeface="Times New Roman" panose="02020603050405020304" pitchFamily="18" charset="0"/>
              <a:cs typeface="Times New Roman" panose="02020603050405020304" pitchFamily="18" charset="0"/>
            </a:endParaRPr>
          </a:p>
        </p:txBody>
      </p:sp>
      <p:sp>
        <p:nvSpPr>
          <p:cNvPr id="23" name="Text 17"/>
          <p:cNvSpPr/>
          <p:nvPr/>
        </p:nvSpPr>
        <p:spPr>
          <a:xfrm>
            <a:off x="2561282"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FFFFFF"/>
                </a:solidFill>
                <a:latin typeface="Times New Roman" panose="02020603050405020304" pitchFamily="18" charset="0"/>
                <a:ea typeface="Noto Sans" pitchFamily="34" charset="-122"/>
                <a:cs typeface="Times New Roman" panose="02020603050405020304" pitchFamily="18" charset="0"/>
              </a:rPr>
              <a:t>Phân quyền vai trò</a:t>
            </a:r>
            <a:endParaRPr lang="en-US" sz="1440" dirty="0">
              <a:latin typeface="Times New Roman" panose="02020603050405020304" pitchFamily="18" charset="0"/>
              <a:cs typeface="Times New Roman" panose="02020603050405020304" pitchFamily="18" charset="0"/>
            </a:endParaRPr>
          </a:p>
        </p:txBody>
      </p:sp>
      <p:sp>
        <p:nvSpPr>
          <p:cNvPr id="24" name="Text 18"/>
          <p:cNvSpPr/>
          <p:nvPr/>
        </p:nvSpPr>
        <p:spPr>
          <a:xfrm>
            <a:off x="2561282" y="2294733"/>
            <a:ext cx="191754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FFFFFF"/>
                </a:solidFill>
                <a:latin typeface="Times New Roman" panose="02020603050405020304" pitchFamily="18" charset="0"/>
                <a:ea typeface="Noto Sans" pitchFamily="34" charset="-122"/>
                <a:cs typeface="Times New Roman" panose="02020603050405020304" pitchFamily="18" charset="0"/>
              </a:rPr>
              <a:t>Điều hướng người dùng đến trang chức năng phù hợp dựa trên vai trò.</a:t>
            </a:r>
            <a:endParaRPr lang="en-US" sz="1440" dirty="0">
              <a:latin typeface="Times New Roman" panose="02020603050405020304" pitchFamily="18" charset="0"/>
              <a:cs typeface="Times New Roman" panose="02020603050405020304" pitchFamily="18" charset="0"/>
            </a:endParaRPr>
          </a:p>
        </p:txBody>
      </p:sp>
      <p:sp>
        <p:nvSpPr>
          <p:cNvPr id="25" name="Text 19"/>
          <p:cNvSpPr/>
          <p:nvPr/>
        </p:nvSpPr>
        <p:spPr>
          <a:xfrm>
            <a:off x="4665177"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Đăng ký tài khoản</a:t>
            </a:r>
            <a:endParaRPr lang="en-US" sz="1440" dirty="0">
              <a:latin typeface="Times New Roman" panose="02020603050405020304" pitchFamily="18" charset="0"/>
              <a:cs typeface="Times New Roman" panose="02020603050405020304" pitchFamily="18" charset="0"/>
            </a:endParaRPr>
          </a:p>
        </p:txBody>
      </p:sp>
      <p:sp>
        <p:nvSpPr>
          <p:cNvPr id="26" name="Text 20"/>
          <p:cNvSpPr/>
          <p:nvPr/>
        </p:nvSpPr>
        <p:spPr>
          <a:xfrm>
            <a:off x="4665177" y="2294733"/>
            <a:ext cx="191754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Tạo tài khoản mới thông qua hộp thoại không cần chuyển trang.</a:t>
            </a:r>
            <a:endParaRPr lang="en-US" sz="1440" dirty="0">
              <a:latin typeface="Times New Roman" panose="02020603050405020304" pitchFamily="18" charset="0"/>
              <a:cs typeface="Times New Roman" panose="02020603050405020304" pitchFamily="18" charset="0"/>
            </a:endParaRPr>
          </a:p>
        </p:txBody>
      </p:sp>
      <p:sp>
        <p:nvSpPr>
          <p:cNvPr id="27" name="Text 21"/>
          <p:cNvSpPr/>
          <p:nvPr/>
        </p:nvSpPr>
        <p:spPr>
          <a:xfrm>
            <a:off x="6769072" y="1622847"/>
            <a:ext cx="1917542" cy="534725"/>
          </a:xfrm>
          <a:prstGeom prst="rect">
            <a:avLst/>
          </a:prstGeom>
          <a:noFill/>
          <a:ln/>
        </p:spPr>
        <p:txBody>
          <a:bodyPr wrap="square" lIns="95250" tIns="95250" rIns="95250" bIns="95250" rtlCol="0" anchor="ctr"/>
          <a:lstStyle/>
          <a:p>
            <a:pPr marL="0" indent="0">
              <a:lnSpc>
                <a:spcPct val="100000"/>
              </a:lnSpc>
              <a:spcBef>
                <a:spcPts val="375"/>
              </a:spcBef>
              <a:buNone/>
            </a:pPr>
            <a:r>
              <a:rPr lang="en-US" sz="1152" b="1" dirty="0">
                <a:solidFill>
                  <a:srgbClr val="00070F"/>
                </a:solidFill>
                <a:latin typeface="Times New Roman" panose="02020603050405020304" pitchFamily="18" charset="0"/>
                <a:ea typeface="Noto Sans" pitchFamily="34" charset="-122"/>
                <a:cs typeface="Times New Roman" panose="02020603050405020304" pitchFamily="18" charset="0"/>
              </a:rPr>
              <a:t>Kiểm tra dữ liệu</a:t>
            </a:r>
            <a:endParaRPr lang="en-US" sz="1440" dirty="0">
              <a:latin typeface="Times New Roman" panose="02020603050405020304" pitchFamily="18" charset="0"/>
              <a:cs typeface="Times New Roman" panose="02020603050405020304" pitchFamily="18" charset="0"/>
            </a:endParaRPr>
          </a:p>
        </p:txBody>
      </p:sp>
      <p:sp>
        <p:nvSpPr>
          <p:cNvPr id="28" name="Text 22"/>
          <p:cNvSpPr/>
          <p:nvPr/>
        </p:nvSpPr>
        <p:spPr>
          <a:xfrm>
            <a:off x="6769072" y="2294733"/>
            <a:ext cx="1917542" cy="657681"/>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JavaScript kiểm tra tính hợp lệ của mật khẩu ngay tại trình duyệt.</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92758" y="2423561"/>
            <a:ext cx="3799379" cy="539496"/>
          </a:xfrm>
          <a:prstGeom prst="rect">
            <a:avLst/>
          </a:prstGeom>
          <a:noFill/>
          <a:ln/>
        </p:spPr>
        <p:txBody>
          <a:bodyPr wrap="square" lIns="95250" tIns="95250" rIns="95250" bIns="95250" rtlCol="0" anchor="t"/>
          <a:lstStyle/>
          <a:p>
            <a:pPr marL="0" indent="0" algn="ctr">
              <a:lnSpc>
                <a:spcPct val="100000"/>
              </a:lnSpc>
              <a:spcBef>
                <a:spcPts val="375"/>
              </a:spcBef>
              <a:buNone/>
            </a:pPr>
            <a:r>
              <a:rPr lang="en-US" sz="2304" b="1" dirty="0">
                <a:solidFill>
                  <a:srgbClr val="FFFFFF"/>
                </a:solidFill>
                <a:latin typeface="Times New Roman" panose="02020603050405020304" pitchFamily="18" charset="0"/>
                <a:ea typeface="Noto Sans" pitchFamily="34" charset="-122"/>
                <a:cs typeface="Times New Roman" panose="02020603050405020304" pitchFamily="18" charset="0"/>
              </a:rPr>
              <a:t>Báo cáo và phân tích</a:t>
            </a:r>
            <a:endParaRPr lang="en-US" sz="1440" dirty="0">
              <a:latin typeface="Times New Roman" panose="02020603050405020304" pitchFamily="18" charset="0"/>
              <a:cs typeface="Times New Roman" panose="02020603050405020304" pitchFamily="18" charset="0"/>
            </a:endParaRPr>
          </a:p>
        </p:txBody>
      </p:sp>
      <p:sp>
        <p:nvSpPr>
          <p:cNvPr id="3" name="Text 1"/>
          <p:cNvSpPr/>
          <p:nvPr/>
        </p:nvSpPr>
        <p:spPr>
          <a:xfrm>
            <a:off x="3276144" y="1127701"/>
            <a:ext cx="2591713" cy="1421287"/>
          </a:xfrm>
          <a:prstGeom prst="rect">
            <a:avLst/>
          </a:prstGeom>
          <a:noFill/>
          <a:ln/>
        </p:spPr>
        <p:txBody>
          <a:bodyPr wrap="square" lIns="95250" tIns="95250" rIns="95250" bIns="95250" rtlCol="0" anchor="ctr">
            <a:spAutoFit/>
          </a:bodyPr>
          <a:lstStyle/>
          <a:p>
            <a:pPr marL="0" indent="0" algn="ctr">
              <a:lnSpc>
                <a:spcPct val="112500"/>
              </a:lnSpc>
              <a:spcBef>
                <a:spcPts val="375"/>
              </a:spcBef>
              <a:buNone/>
            </a:pPr>
            <a:r>
              <a:rPr lang="vi-VN" sz="7488" b="1" dirty="0">
                <a:solidFill>
                  <a:srgbClr val="FFFFFF"/>
                </a:solidFill>
                <a:latin typeface="Times New Roman" panose="02020603050405020304" pitchFamily="18" charset="0"/>
                <a:ea typeface="Noto Sans" pitchFamily="34" charset="-122"/>
                <a:cs typeface="Times New Roman" panose="02020603050405020304" pitchFamily="18" charset="0"/>
              </a:rPr>
              <a:t>04</a:t>
            </a:r>
            <a:endParaRPr lang="en-US" sz="1440" dirty="0">
              <a:latin typeface="Times New Roman" panose="02020603050405020304" pitchFamily="18" charset="0"/>
              <a:cs typeface="Times New Roman" panose="02020603050405020304" pitchFamily="18" charset="0"/>
            </a:endParaRPr>
          </a:p>
        </p:txBody>
      </p:sp>
      <p:sp>
        <p:nvSpPr>
          <p:cNvPr id="4" name="Shape 2"/>
          <p:cNvSpPr/>
          <p:nvPr/>
        </p:nvSpPr>
        <p:spPr>
          <a:xfrm>
            <a:off x="4393087" y="3494108"/>
            <a:ext cx="357826" cy="0"/>
          </a:xfrm>
          <a:custGeom>
            <a:avLst/>
            <a:gdLst/>
            <a:ahLst/>
            <a:cxnLst/>
            <a:rect l="l" t="t" r="r" b="b"/>
            <a:pathLst>
              <a:path w="357826">
                <a:moveTo>
                  <a:pt x="0" y="0"/>
                </a:moveTo>
                <a:moveTo>
                  <a:pt x="0" y="0"/>
                </a:moveTo>
                <a:lnTo>
                  <a:pt x="357826" y="0"/>
                </a:lnTo>
              </a:path>
            </a:pathLst>
          </a:custGeom>
          <a:noFill/>
          <a:ln w="28575">
            <a:solidFill>
              <a:srgbClr val="EED7C0"/>
            </a:solidFill>
            <a:prstDash val="solid"/>
            <a:headEnd type="none"/>
            <a:tailEnd type="none"/>
          </a:ln>
        </p:spPr>
        <p:txBody>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Tổng hợp doanh thu</a:t>
            </a:r>
            <a:endParaRPr lang="en-US" sz="1440" dirty="0">
              <a:latin typeface="Times New Roman" panose="02020603050405020304" pitchFamily="18" charset="0"/>
              <a:cs typeface="Times New Roman" panose="02020603050405020304" pitchFamily="18" charset="0"/>
            </a:endParaRPr>
          </a:p>
        </p:txBody>
      </p:sp>
      <p:sp>
        <p:nvSpPr>
          <p:cNvPr id="3" name="Shape 1"/>
          <p:cNvSpPr/>
          <p:nvPr/>
        </p:nvSpPr>
        <p:spPr>
          <a:xfrm>
            <a:off x="6639960" y="1921681"/>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CC6B38"/>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4515159" y="1624684"/>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Shape 3"/>
          <p:cNvSpPr/>
          <p:nvPr/>
        </p:nvSpPr>
        <p:spPr>
          <a:xfrm>
            <a:off x="2390357" y="1327687"/>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CC6B38"/>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Shape 4"/>
          <p:cNvSpPr/>
          <p:nvPr/>
        </p:nvSpPr>
        <p:spPr>
          <a:xfrm>
            <a:off x="262555" y="1097720"/>
            <a:ext cx="2241485" cy="593993"/>
          </a:xfrm>
          <a:custGeom>
            <a:avLst/>
            <a:gdLst/>
            <a:ahLst/>
            <a:cxnLst/>
            <a:rect l="l" t="t" r="r" b="b"/>
            <a:pathLst>
              <a:path w="2241485" h="593993">
                <a:moveTo>
                  <a:pt x="0" y="0"/>
                </a:moveTo>
                <a:moveTo>
                  <a:pt x="0" y="0"/>
                </a:moveTo>
                <a:lnTo>
                  <a:pt x="2241485" y="0"/>
                </a:lnTo>
                <a:lnTo>
                  <a:pt x="2241485" y="593993"/>
                </a:lnTo>
                <a:lnTo>
                  <a:pt x="0" y="593993"/>
                </a:lnTo>
                <a:close/>
              </a:path>
            </a:pathLst>
          </a:custGeom>
          <a:solidFill>
            <a:srgbClr val="9B6047"/>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262555" y="1097720"/>
            <a:ext cx="851764"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01</a:t>
            </a:r>
            <a:endParaRPr lang="en-US" sz="1440" dirty="0">
              <a:latin typeface="Times New Roman" panose="02020603050405020304" pitchFamily="18" charset="0"/>
              <a:cs typeface="Times New Roman" panose="02020603050405020304" pitchFamily="18" charset="0"/>
            </a:endParaRPr>
          </a:p>
        </p:txBody>
      </p:sp>
      <p:sp>
        <p:nvSpPr>
          <p:cNvPr id="8" name="Text 6"/>
          <p:cNvSpPr/>
          <p:nvPr/>
        </p:nvSpPr>
        <p:spPr>
          <a:xfrm>
            <a:off x="2507040" y="1327992"/>
            <a:ext cx="851764"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02</a:t>
            </a:r>
            <a:endParaRPr lang="en-US" sz="1440" dirty="0">
              <a:latin typeface="Times New Roman" panose="02020603050405020304" pitchFamily="18" charset="0"/>
              <a:cs typeface="Times New Roman" panose="02020603050405020304" pitchFamily="18" charset="0"/>
            </a:endParaRPr>
          </a:p>
        </p:txBody>
      </p:sp>
      <p:sp>
        <p:nvSpPr>
          <p:cNvPr id="9" name="Text 7"/>
          <p:cNvSpPr/>
          <p:nvPr/>
        </p:nvSpPr>
        <p:spPr>
          <a:xfrm>
            <a:off x="4631841" y="1624836"/>
            <a:ext cx="851764"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03</a:t>
            </a:r>
            <a:endParaRPr lang="en-US" sz="1440" dirty="0">
              <a:latin typeface="Times New Roman" panose="02020603050405020304" pitchFamily="18" charset="0"/>
              <a:cs typeface="Times New Roman" panose="02020603050405020304" pitchFamily="18" charset="0"/>
            </a:endParaRPr>
          </a:p>
        </p:txBody>
      </p:sp>
      <p:sp>
        <p:nvSpPr>
          <p:cNvPr id="10" name="Text 8"/>
          <p:cNvSpPr/>
          <p:nvPr/>
        </p:nvSpPr>
        <p:spPr>
          <a:xfrm>
            <a:off x="6756643" y="1921681"/>
            <a:ext cx="851764"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04</a:t>
            </a:r>
            <a:endParaRPr lang="en-US" sz="1440" dirty="0">
              <a:latin typeface="Times New Roman" panose="02020603050405020304" pitchFamily="18" charset="0"/>
              <a:cs typeface="Times New Roman" panose="02020603050405020304" pitchFamily="18" charset="0"/>
            </a:endParaRPr>
          </a:p>
        </p:txBody>
      </p:sp>
      <p:sp>
        <p:nvSpPr>
          <p:cNvPr id="11" name="Text 9"/>
          <p:cNvSpPr/>
          <p:nvPr/>
        </p:nvSpPr>
        <p:spPr>
          <a:xfrm>
            <a:off x="262555" y="1682138"/>
            <a:ext cx="2127802"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Báo cáo doanh thu</a:t>
            </a:r>
            <a:endParaRPr lang="en-US" sz="1440" dirty="0">
              <a:latin typeface="Times New Roman" panose="02020603050405020304" pitchFamily="18" charset="0"/>
              <a:cs typeface="Times New Roman" panose="02020603050405020304" pitchFamily="18" charset="0"/>
            </a:endParaRPr>
          </a:p>
        </p:txBody>
      </p:sp>
      <p:sp>
        <p:nvSpPr>
          <p:cNvPr id="12" name="Text 10"/>
          <p:cNvSpPr/>
          <p:nvPr/>
        </p:nvSpPr>
        <p:spPr>
          <a:xfrm>
            <a:off x="262555" y="2282685"/>
            <a:ext cx="2079924"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Thống kê tổng doanh thu theo ngày, tuần, tháng với biểu đồ trực quan.</a:t>
            </a:r>
            <a:endParaRPr lang="en-US" sz="1440" dirty="0">
              <a:latin typeface="Times New Roman" panose="02020603050405020304" pitchFamily="18" charset="0"/>
              <a:cs typeface="Times New Roman" panose="02020603050405020304" pitchFamily="18" charset="0"/>
            </a:endParaRPr>
          </a:p>
        </p:txBody>
      </p:sp>
      <p:sp>
        <p:nvSpPr>
          <p:cNvPr id="13" name="Text 11"/>
          <p:cNvSpPr/>
          <p:nvPr/>
        </p:nvSpPr>
        <p:spPr>
          <a:xfrm>
            <a:off x="2390357" y="1912105"/>
            <a:ext cx="2124802" cy="393192"/>
          </a:xfrm>
          <a:prstGeom prst="rect">
            <a:avLst/>
          </a:prstGeom>
          <a:noFill/>
          <a:ln/>
        </p:spPr>
        <p:txBody>
          <a:bodyPr wrap="square" lIns="95250" tIns="95250" rIns="95250" bIns="95250" rtlCol="0" anchor="t">
            <a:spAutoFit/>
          </a:bodyPr>
          <a:lstStyle/>
          <a:p>
            <a:pPr marL="0" indent="0">
              <a:lnSpc>
                <a:spcPct val="100000"/>
              </a:lnSpc>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Phân tích bán hàng</a:t>
            </a:r>
            <a:endParaRPr lang="en-US" sz="1440" dirty="0">
              <a:latin typeface="Times New Roman" panose="02020603050405020304" pitchFamily="18" charset="0"/>
              <a:cs typeface="Times New Roman" panose="02020603050405020304" pitchFamily="18" charset="0"/>
            </a:endParaRPr>
          </a:p>
        </p:txBody>
      </p:sp>
      <p:sp>
        <p:nvSpPr>
          <p:cNvPr id="14" name="Text 12"/>
          <p:cNvSpPr/>
          <p:nvPr/>
        </p:nvSpPr>
        <p:spPr>
          <a:xfrm>
            <a:off x="2390757" y="2512384"/>
            <a:ext cx="212440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Hiển thị sản phẩm bán chạy và xu hướng tiêu dùng.</a:t>
            </a:r>
            <a:endParaRPr lang="en-US" sz="1440" dirty="0">
              <a:latin typeface="Times New Roman" panose="02020603050405020304" pitchFamily="18" charset="0"/>
              <a:cs typeface="Times New Roman" panose="02020603050405020304" pitchFamily="18" charset="0"/>
            </a:endParaRPr>
          </a:p>
        </p:txBody>
      </p:sp>
      <p:sp>
        <p:nvSpPr>
          <p:cNvPr id="15" name="Text 13"/>
          <p:cNvSpPr/>
          <p:nvPr/>
        </p:nvSpPr>
        <p:spPr>
          <a:xfrm>
            <a:off x="4515159" y="2189501"/>
            <a:ext cx="2124802"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Xuất báo cáo</a:t>
            </a:r>
            <a:endParaRPr lang="en-US" sz="1440" dirty="0">
              <a:latin typeface="Times New Roman" panose="02020603050405020304" pitchFamily="18" charset="0"/>
              <a:cs typeface="Times New Roman" panose="02020603050405020304" pitchFamily="18" charset="0"/>
            </a:endParaRPr>
          </a:p>
        </p:txBody>
      </p:sp>
      <p:sp>
        <p:nvSpPr>
          <p:cNvPr id="16" name="Text 14"/>
          <p:cNvSpPr/>
          <p:nvPr/>
        </p:nvSpPr>
        <p:spPr>
          <a:xfrm>
            <a:off x="4515159" y="2799269"/>
            <a:ext cx="212480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Tạo file PDF với dữ liệu doanh thu chi tiết.</a:t>
            </a:r>
            <a:endParaRPr lang="en-US" sz="1440" dirty="0">
              <a:latin typeface="Times New Roman" panose="02020603050405020304" pitchFamily="18" charset="0"/>
              <a:cs typeface="Times New Roman" panose="02020603050405020304" pitchFamily="18" charset="0"/>
            </a:endParaRPr>
          </a:p>
        </p:txBody>
      </p:sp>
      <p:sp>
        <p:nvSpPr>
          <p:cNvPr id="17" name="Text 15"/>
          <p:cNvSpPr/>
          <p:nvPr/>
        </p:nvSpPr>
        <p:spPr>
          <a:xfrm>
            <a:off x="6639960" y="2496523"/>
            <a:ext cx="2241485"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Quyền truy cập</a:t>
            </a:r>
            <a:endParaRPr lang="en-US" sz="1440" dirty="0">
              <a:latin typeface="Times New Roman" panose="02020603050405020304" pitchFamily="18" charset="0"/>
              <a:cs typeface="Times New Roman" panose="02020603050405020304" pitchFamily="18" charset="0"/>
            </a:endParaRPr>
          </a:p>
        </p:txBody>
      </p:sp>
      <p:sp>
        <p:nvSpPr>
          <p:cNvPr id="18" name="Text 16"/>
          <p:cNvSpPr/>
          <p:nvPr/>
        </p:nvSpPr>
        <p:spPr>
          <a:xfrm>
            <a:off x="6639960" y="3105106"/>
            <a:ext cx="2241485"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Chỉ admin xem báo cáo đầy đủ, nhân viên không có quyền.</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Báo cáo theo ngày/tuần/tháng</a:t>
            </a:r>
            <a:endParaRPr lang="en-US" sz="1440" dirty="0">
              <a:latin typeface="Times New Roman" panose="02020603050405020304" pitchFamily="18" charset="0"/>
              <a:cs typeface="Times New Roman" panose="02020603050405020304" pitchFamily="18" charset="0"/>
            </a:endParaRPr>
          </a:p>
        </p:txBody>
      </p:sp>
      <p:sp>
        <p:nvSpPr>
          <p:cNvPr id="3" name="Text 1"/>
          <p:cNvSpPr/>
          <p:nvPr/>
        </p:nvSpPr>
        <p:spPr>
          <a:xfrm>
            <a:off x="276674" y="1048817"/>
            <a:ext cx="3017520"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Thống kê doanh thu</a:t>
            </a:r>
            <a:endParaRPr lang="en-US" sz="1440" dirty="0">
              <a:latin typeface="Times New Roman" panose="02020603050405020304" pitchFamily="18" charset="0"/>
              <a:cs typeface="Times New Roman" panose="02020603050405020304" pitchFamily="18" charset="0"/>
            </a:endParaRPr>
          </a:p>
        </p:txBody>
      </p:sp>
      <p:pic>
        <p:nvPicPr>
          <p:cNvPr id="4" name="Image 0" descr="https://oceandoc-ai.obs.ap-southeast-3.myhuaweicloud.com:443/image_1766805064271_M2iM7A.jpg"/>
          <p:cNvPicPr>
            <a:picLocks noChangeAspect="1"/>
          </p:cNvPicPr>
          <p:nvPr/>
        </p:nvPicPr>
        <p:blipFill>
          <a:blip r:embed="rId4"/>
          <a:srcRect l="31273" r="31273"/>
          <a:stretch/>
        </p:blipFill>
        <p:spPr>
          <a:xfrm>
            <a:off x="3369564" y="986638"/>
            <a:ext cx="2405534" cy="3608301"/>
          </a:xfrm>
          <a:prstGeom prst="rect">
            <a:avLst/>
          </a:prstGeom>
        </p:spPr>
      </p:pic>
      <p:sp>
        <p:nvSpPr>
          <p:cNvPr id="5" name="Text 2"/>
          <p:cNvSpPr/>
          <p:nvPr/>
        </p:nvSpPr>
        <p:spPr>
          <a:xfrm>
            <a:off x="261053" y="1526134"/>
            <a:ext cx="3033142" cy="502573"/>
          </a:xfrm>
          <a:prstGeom prst="rect">
            <a:avLst/>
          </a:prstGeom>
          <a:noFill/>
          <a:ln/>
        </p:spPr>
        <p:txBody>
          <a:bodyPr wrap="square" lIns="95250" tIns="95250" rIns="95250" bIns="95250" rtlCol="0" anchor="t">
            <a:spAutoFit/>
          </a:bodyPr>
          <a:lstStyle/>
          <a:p>
            <a:pPr marL="0" indent="0" algn="r">
              <a:lnSpc>
                <a:spcPct val="100000"/>
              </a:lnSpc>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Hiển thị tổng doanh thu theo thời gian ngày, tuần, tháng với biểu đồ trực quan.</a:t>
            </a:r>
            <a:endParaRPr lang="en-US" sz="1440" dirty="0">
              <a:latin typeface="Times New Roman" panose="02020603050405020304" pitchFamily="18" charset="0"/>
              <a:cs typeface="Times New Roman" panose="02020603050405020304" pitchFamily="18" charset="0"/>
            </a:endParaRPr>
          </a:p>
        </p:txBody>
      </p:sp>
      <p:sp>
        <p:nvSpPr>
          <p:cNvPr id="6" name="Text 3"/>
          <p:cNvSpPr/>
          <p:nvPr/>
        </p:nvSpPr>
        <p:spPr>
          <a:xfrm>
            <a:off x="276674" y="2960827"/>
            <a:ext cx="3017520"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Phân tích sản phẩm</a:t>
            </a:r>
            <a:endParaRPr lang="en-US" sz="1440" dirty="0">
              <a:latin typeface="Times New Roman" panose="02020603050405020304" pitchFamily="18" charset="0"/>
              <a:cs typeface="Times New Roman" panose="02020603050405020304" pitchFamily="18" charset="0"/>
            </a:endParaRPr>
          </a:p>
        </p:txBody>
      </p:sp>
      <p:sp>
        <p:nvSpPr>
          <p:cNvPr id="7" name="Text 4"/>
          <p:cNvSpPr/>
          <p:nvPr/>
        </p:nvSpPr>
        <p:spPr>
          <a:xfrm>
            <a:off x="267530" y="3414935"/>
            <a:ext cx="3033142" cy="502573"/>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Xác định sản phẩm bán chạy nhất và xu hướng tiêu dùng theo thời gian.</a:t>
            </a:r>
            <a:endParaRPr lang="en-US" sz="1440" dirty="0">
              <a:latin typeface="Times New Roman" panose="02020603050405020304" pitchFamily="18" charset="0"/>
              <a:cs typeface="Times New Roman" panose="02020603050405020304" pitchFamily="18" charset="0"/>
            </a:endParaRPr>
          </a:p>
        </p:txBody>
      </p:sp>
      <p:sp>
        <p:nvSpPr>
          <p:cNvPr id="8" name="Text 5"/>
          <p:cNvSpPr/>
          <p:nvPr/>
        </p:nvSpPr>
        <p:spPr>
          <a:xfrm>
            <a:off x="5897880" y="1048817"/>
            <a:ext cx="3017520"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Xuất báo cáo</a:t>
            </a:r>
            <a:endParaRPr lang="en-US" sz="1440" dirty="0">
              <a:latin typeface="Times New Roman" panose="02020603050405020304" pitchFamily="18" charset="0"/>
              <a:cs typeface="Times New Roman" panose="02020603050405020304" pitchFamily="18" charset="0"/>
            </a:endParaRPr>
          </a:p>
        </p:txBody>
      </p:sp>
      <p:sp>
        <p:nvSpPr>
          <p:cNvPr id="9" name="Text 6"/>
          <p:cNvSpPr/>
          <p:nvPr/>
        </p:nvSpPr>
        <p:spPr>
          <a:xfrm>
            <a:off x="5897880" y="1526112"/>
            <a:ext cx="3033142"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Tạo file PDF chứa số liệu chi tiết và biểu đồ doanh thu.</a:t>
            </a:r>
            <a:endParaRPr lang="en-US" sz="1440" dirty="0">
              <a:latin typeface="Times New Roman" panose="02020603050405020304" pitchFamily="18" charset="0"/>
              <a:cs typeface="Times New Roman" panose="02020603050405020304" pitchFamily="18" charset="0"/>
            </a:endParaRPr>
          </a:p>
        </p:txBody>
      </p:sp>
      <p:sp>
        <p:nvSpPr>
          <p:cNvPr id="10" name="Text 7"/>
          <p:cNvSpPr/>
          <p:nvPr/>
        </p:nvSpPr>
        <p:spPr>
          <a:xfrm>
            <a:off x="5897880" y="2960805"/>
            <a:ext cx="3017520" cy="39319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Quyền truy cập</a:t>
            </a:r>
            <a:endParaRPr lang="en-US" sz="1440" dirty="0">
              <a:latin typeface="Times New Roman" panose="02020603050405020304" pitchFamily="18" charset="0"/>
              <a:cs typeface="Times New Roman" panose="02020603050405020304" pitchFamily="18" charset="0"/>
            </a:endParaRPr>
          </a:p>
        </p:txBody>
      </p:sp>
      <p:sp>
        <p:nvSpPr>
          <p:cNvPr id="11" name="Text 8"/>
          <p:cNvSpPr/>
          <p:nvPr/>
        </p:nvSpPr>
        <p:spPr>
          <a:xfrm>
            <a:off x="5904358" y="3414935"/>
            <a:ext cx="3033142" cy="502573"/>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Chỉ admin xem báo cáo đầy đủ, nhân viên không có quyền này.</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686373" y="176386"/>
            <a:ext cx="8240836" cy="538994"/>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en-US" sz="2160" b="1" dirty="0">
                <a:solidFill>
                  <a:srgbClr val="00070F"/>
                </a:solidFill>
                <a:latin typeface="Times New Roman" panose="02020603050405020304" pitchFamily="18" charset="0"/>
                <a:ea typeface="Noto Sans" pitchFamily="34" charset="-122"/>
                <a:cs typeface="Times New Roman" panose="02020603050405020304" pitchFamily="18" charset="0"/>
              </a:rPr>
              <a:t>Phân tích dữ liệu kinh doanh</a:t>
            </a:r>
            <a:endParaRPr lang="en-US" sz="144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4"/>
          <a:stretch>
            <a:fillRect/>
          </a:stretch>
        </p:blipFill>
        <p:spPr>
          <a:xfrm>
            <a:off x="4651183" y="925116"/>
            <a:ext cx="3997757" cy="1799539"/>
          </a:xfrm>
          <a:prstGeom prst="rect">
            <a:avLst/>
          </a:prstGeom>
        </p:spPr>
      </p:pic>
      <p:pic>
        <p:nvPicPr>
          <p:cNvPr id="5" name="Image 1" descr="preencoded.png"/>
          <p:cNvPicPr>
            <a:picLocks noChangeAspect="1"/>
          </p:cNvPicPr>
          <p:nvPr/>
        </p:nvPicPr>
        <p:blipFill>
          <a:blip r:embed="rId5"/>
          <a:stretch>
            <a:fillRect/>
          </a:stretch>
        </p:blipFill>
        <p:spPr>
          <a:xfrm>
            <a:off x="4623751" y="903732"/>
            <a:ext cx="1234168" cy="511298"/>
          </a:xfrm>
          <a:prstGeom prst="rect">
            <a:avLst/>
          </a:prstGeom>
        </p:spPr>
      </p:pic>
      <p:sp>
        <p:nvSpPr>
          <p:cNvPr id="6" name="Text 1"/>
          <p:cNvSpPr/>
          <p:nvPr/>
        </p:nvSpPr>
        <p:spPr>
          <a:xfrm>
            <a:off x="4651183" y="861108"/>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02</a:t>
            </a:r>
            <a:endParaRPr lang="en-US" sz="144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4"/>
          <a:stretch>
            <a:fillRect/>
          </a:stretch>
        </p:blipFill>
        <p:spPr>
          <a:xfrm>
            <a:off x="522122" y="2903477"/>
            <a:ext cx="3997757" cy="1799539"/>
          </a:xfrm>
          <a:prstGeom prst="rect">
            <a:avLst/>
          </a:prstGeom>
        </p:spPr>
      </p:pic>
      <p:pic>
        <p:nvPicPr>
          <p:cNvPr id="8" name="Image 3" descr="preencoded.png"/>
          <p:cNvPicPr>
            <a:picLocks noChangeAspect="1"/>
          </p:cNvPicPr>
          <p:nvPr/>
        </p:nvPicPr>
        <p:blipFill>
          <a:blip r:embed="rId5"/>
          <a:stretch>
            <a:fillRect/>
          </a:stretch>
        </p:blipFill>
        <p:spPr>
          <a:xfrm>
            <a:off x="494904" y="2882093"/>
            <a:ext cx="1234168" cy="511298"/>
          </a:xfrm>
          <a:prstGeom prst="rect">
            <a:avLst/>
          </a:prstGeom>
        </p:spPr>
      </p:pic>
      <p:sp>
        <p:nvSpPr>
          <p:cNvPr id="9" name="Text 2"/>
          <p:cNvSpPr/>
          <p:nvPr/>
        </p:nvSpPr>
        <p:spPr>
          <a:xfrm>
            <a:off x="522336" y="2839469"/>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03</a:t>
            </a:r>
            <a:endParaRPr lang="en-US" sz="1440" dirty="0">
              <a:latin typeface="Times New Roman" panose="02020603050405020304" pitchFamily="18" charset="0"/>
              <a:cs typeface="Times New Roman" panose="02020603050405020304" pitchFamily="18" charset="0"/>
            </a:endParaRPr>
          </a:p>
        </p:txBody>
      </p:sp>
      <p:pic>
        <p:nvPicPr>
          <p:cNvPr id="10" name="Image 4" descr="preencoded.png"/>
          <p:cNvPicPr>
            <a:picLocks noChangeAspect="1"/>
          </p:cNvPicPr>
          <p:nvPr/>
        </p:nvPicPr>
        <p:blipFill>
          <a:blip r:embed="rId6"/>
          <a:stretch>
            <a:fillRect/>
          </a:stretch>
        </p:blipFill>
        <p:spPr>
          <a:xfrm>
            <a:off x="522336" y="925116"/>
            <a:ext cx="3997757" cy="1799682"/>
          </a:xfrm>
          <a:prstGeom prst="rect">
            <a:avLst/>
          </a:prstGeom>
        </p:spPr>
      </p:pic>
      <p:pic>
        <p:nvPicPr>
          <p:cNvPr id="11" name="Image 5" descr="preencoded.png"/>
          <p:cNvPicPr>
            <a:picLocks noChangeAspect="1"/>
          </p:cNvPicPr>
          <p:nvPr/>
        </p:nvPicPr>
        <p:blipFill>
          <a:blip r:embed="rId7"/>
          <a:stretch>
            <a:fillRect/>
          </a:stretch>
        </p:blipFill>
        <p:spPr>
          <a:xfrm>
            <a:off x="494904" y="903732"/>
            <a:ext cx="1234168" cy="511298"/>
          </a:xfrm>
          <a:prstGeom prst="rect">
            <a:avLst/>
          </a:prstGeom>
        </p:spPr>
      </p:pic>
      <p:sp>
        <p:nvSpPr>
          <p:cNvPr id="12" name="Text 3"/>
          <p:cNvSpPr/>
          <p:nvPr/>
        </p:nvSpPr>
        <p:spPr>
          <a:xfrm>
            <a:off x="522336" y="861108"/>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01</a:t>
            </a:r>
            <a:endParaRPr lang="en-US" sz="1440" dirty="0">
              <a:latin typeface="Times New Roman" panose="02020603050405020304" pitchFamily="18" charset="0"/>
              <a:cs typeface="Times New Roman" panose="02020603050405020304" pitchFamily="18" charset="0"/>
            </a:endParaRPr>
          </a:p>
        </p:txBody>
      </p:sp>
      <p:pic>
        <p:nvPicPr>
          <p:cNvPr id="13" name="Image 6" descr="preencoded.png"/>
          <p:cNvPicPr>
            <a:picLocks noChangeAspect="1"/>
          </p:cNvPicPr>
          <p:nvPr/>
        </p:nvPicPr>
        <p:blipFill>
          <a:blip r:embed="rId8"/>
          <a:stretch>
            <a:fillRect/>
          </a:stretch>
        </p:blipFill>
        <p:spPr>
          <a:xfrm>
            <a:off x="4651183" y="2903187"/>
            <a:ext cx="3997757" cy="1799539"/>
          </a:xfrm>
          <a:prstGeom prst="rect">
            <a:avLst/>
          </a:prstGeom>
        </p:spPr>
      </p:pic>
      <p:pic>
        <p:nvPicPr>
          <p:cNvPr id="14" name="Image 7" descr="preencoded.png"/>
          <p:cNvPicPr>
            <a:picLocks noChangeAspect="1"/>
          </p:cNvPicPr>
          <p:nvPr/>
        </p:nvPicPr>
        <p:blipFill>
          <a:blip r:embed="rId7"/>
          <a:stretch>
            <a:fillRect/>
          </a:stretch>
        </p:blipFill>
        <p:spPr>
          <a:xfrm>
            <a:off x="4623751" y="2882093"/>
            <a:ext cx="1234168" cy="511298"/>
          </a:xfrm>
          <a:prstGeom prst="rect">
            <a:avLst/>
          </a:prstGeom>
        </p:spPr>
      </p:pic>
      <p:sp>
        <p:nvSpPr>
          <p:cNvPr id="15" name="Text 4"/>
          <p:cNvSpPr/>
          <p:nvPr/>
        </p:nvSpPr>
        <p:spPr>
          <a:xfrm>
            <a:off x="4651183" y="2839469"/>
            <a:ext cx="1206736" cy="515910"/>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Times New Roman" panose="02020603050405020304" pitchFamily="18" charset="0"/>
                <a:ea typeface="Noto Sans" pitchFamily="34" charset="-122"/>
                <a:cs typeface="Times New Roman" panose="02020603050405020304" pitchFamily="18" charset="0"/>
              </a:rPr>
              <a:t>04</a:t>
            </a:r>
            <a:endParaRPr lang="en-US" sz="1440" dirty="0">
              <a:latin typeface="Times New Roman" panose="02020603050405020304" pitchFamily="18" charset="0"/>
              <a:cs typeface="Times New Roman" panose="02020603050405020304" pitchFamily="18" charset="0"/>
            </a:endParaRPr>
          </a:p>
        </p:txBody>
      </p:sp>
      <p:sp>
        <p:nvSpPr>
          <p:cNvPr id="16" name="Text 5"/>
          <p:cNvSpPr/>
          <p:nvPr/>
        </p:nvSpPr>
        <p:spPr>
          <a:xfrm>
            <a:off x="1756562" y="925116"/>
            <a:ext cx="2763531"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Phân tích doanh thu</a:t>
            </a:r>
            <a:endParaRPr lang="en-US" sz="1440" dirty="0">
              <a:latin typeface="Times New Roman" panose="02020603050405020304" pitchFamily="18" charset="0"/>
              <a:cs typeface="Times New Roman" panose="02020603050405020304" pitchFamily="18" charset="0"/>
            </a:endParaRPr>
          </a:p>
        </p:txBody>
      </p:sp>
      <p:sp>
        <p:nvSpPr>
          <p:cNvPr id="17" name="Text 6"/>
          <p:cNvSpPr/>
          <p:nvPr/>
        </p:nvSpPr>
        <p:spPr>
          <a:xfrm>
            <a:off x="687046" y="1443828"/>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Thống kê doanh thu theo ngày, tuần, tháng với biểu đồ trực quan.</a:t>
            </a:r>
            <a:endParaRPr lang="en-US" sz="1440" dirty="0">
              <a:latin typeface="Times New Roman" panose="02020603050405020304" pitchFamily="18" charset="0"/>
              <a:cs typeface="Times New Roman" panose="02020603050405020304" pitchFamily="18" charset="0"/>
            </a:endParaRPr>
          </a:p>
        </p:txBody>
      </p:sp>
      <p:sp>
        <p:nvSpPr>
          <p:cNvPr id="18" name="Text 7"/>
          <p:cNvSpPr/>
          <p:nvPr/>
        </p:nvSpPr>
        <p:spPr>
          <a:xfrm>
            <a:off x="5894496" y="925116"/>
            <a:ext cx="2754600"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Sản phẩm bán chạy</a:t>
            </a:r>
            <a:endParaRPr lang="en-US" sz="1440" dirty="0">
              <a:latin typeface="Times New Roman" panose="02020603050405020304" pitchFamily="18" charset="0"/>
              <a:cs typeface="Times New Roman" panose="02020603050405020304" pitchFamily="18" charset="0"/>
            </a:endParaRPr>
          </a:p>
        </p:txBody>
      </p:sp>
      <p:sp>
        <p:nvSpPr>
          <p:cNvPr id="19" name="Text 8"/>
          <p:cNvSpPr/>
          <p:nvPr/>
        </p:nvSpPr>
        <p:spPr>
          <a:xfrm>
            <a:off x="4815971" y="1443828"/>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Xác định đồ uống được ưa chuộng để tối ưu menu.</a:t>
            </a:r>
            <a:endParaRPr lang="en-US" sz="1440" dirty="0">
              <a:latin typeface="Times New Roman" panose="02020603050405020304" pitchFamily="18" charset="0"/>
              <a:cs typeface="Times New Roman" panose="02020603050405020304" pitchFamily="18" charset="0"/>
            </a:endParaRPr>
          </a:p>
        </p:txBody>
      </p:sp>
      <p:sp>
        <p:nvSpPr>
          <p:cNvPr id="20" name="Text 9"/>
          <p:cNvSpPr/>
          <p:nvPr/>
        </p:nvSpPr>
        <p:spPr>
          <a:xfrm>
            <a:off x="1765649" y="2903477"/>
            <a:ext cx="2754600"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CC6B38"/>
                </a:solidFill>
                <a:latin typeface="Times New Roman" panose="02020603050405020304" pitchFamily="18" charset="0"/>
                <a:ea typeface="Noto Sans" pitchFamily="34" charset="-122"/>
                <a:cs typeface="Times New Roman" panose="02020603050405020304" pitchFamily="18" charset="0"/>
              </a:rPr>
              <a:t>Hiệu quả nhân viên</a:t>
            </a:r>
            <a:endParaRPr lang="en-US" sz="1440" dirty="0">
              <a:latin typeface="Times New Roman" panose="02020603050405020304" pitchFamily="18" charset="0"/>
              <a:cs typeface="Times New Roman" panose="02020603050405020304" pitchFamily="18" charset="0"/>
            </a:endParaRPr>
          </a:p>
        </p:txBody>
      </p:sp>
      <p:sp>
        <p:nvSpPr>
          <p:cNvPr id="21" name="Text 10"/>
          <p:cNvSpPr/>
          <p:nvPr/>
        </p:nvSpPr>
        <p:spPr>
          <a:xfrm>
            <a:off x="687124" y="3431333"/>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Theo dõi số lượng đơn hàng được duyệt bởi từng nhân viên.</a:t>
            </a:r>
            <a:endParaRPr lang="en-US" sz="1440" dirty="0">
              <a:latin typeface="Times New Roman" panose="02020603050405020304" pitchFamily="18" charset="0"/>
              <a:cs typeface="Times New Roman" panose="02020603050405020304" pitchFamily="18" charset="0"/>
            </a:endParaRPr>
          </a:p>
        </p:txBody>
      </p:sp>
      <p:sp>
        <p:nvSpPr>
          <p:cNvPr id="22" name="Text 11"/>
          <p:cNvSpPr/>
          <p:nvPr/>
        </p:nvSpPr>
        <p:spPr>
          <a:xfrm>
            <a:off x="5885565" y="2903477"/>
            <a:ext cx="2763531" cy="39177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296" b="1" dirty="0">
                <a:solidFill>
                  <a:srgbClr val="9B6047"/>
                </a:solidFill>
                <a:latin typeface="Times New Roman" panose="02020603050405020304" pitchFamily="18" charset="0"/>
                <a:ea typeface="Noto Sans" pitchFamily="34" charset="-122"/>
                <a:cs typeface="Times New Roman" panose="02020603050405020304" pitchFamily="18" charset="0"/>
              </a:rPr>
              <a:t>Xu hướng tiêu dùng</a:t>
            </a:r>
            <a:endParaRPr lang="en-US" sz="1440" dirty="0">
              <a:latin typeface="Times New Roman" panose="02020603050405020304" pitchFamily="18" charset="0"/>
              <a:cs typeface="Times New Roman" panose="02020603050405020304" pitchFamily="18" charset="0"/>
            </a:endParaRPr>
          </a:p>
        </p:txBody>
      </p:sp>
      <p:sp>
        <p:nvSpPr>
          <p:cNvPr id="23" name="Text 12"/>
          <p:cNvSpPr/>
          <p:nvPr/>
        </p:nvSpPr>
        <p:spPr>
          <a:xfrm>
            <a:off x="4815893" y="3431333"/>
            <a:ext cx="3668337" cy="347467"/>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008" dirty="0">
                <a:solidFill>
                  <a:srgbClr val="00070F"/>
                </a:solidFill>
                <a:latin typeface="Times New Roman" panose="02020603050405020304" pitchFamily="18" charset="0"/>
                <a:ea typeface="Noto Sans" pitchFamily="34" charset="-122"/>
                <a:cs typeface="Times New Roman" panose="02020603050405020304" pitchFamily="18" charset="0"/>
              </a:rPr>
              <a:t>Phân tích thời điểm cao điểm và sở thích khách hàng.</a:t>
            </a:r>
            <a:endParaRPr lang="en-US" sz="144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692758" y="2423561"/>
            <a:ext cx="3799379" cy="539496"/>
          </a:xfrm>
          <a:prstGeom prst="rect">
            <a:avLst/>
          </a:prstGeom>
          <a:noFill/>
          <a:ln/>
        </p:spPr>
        <p:txBody>
          <a:bodyPr wrap="square" lIns="95250" tIns="95250" rIns="95250" bIns="95250" rtlCol="0" anchor="t"/>
          <a:lstStyle/>
          <a:p>
            <a:pPr marL="0" marR="0" lvl="0" indent="0" algn="ctr" defTabSz="914400" rtl="0" eaLnBrk="1" fontAlgn="auto" latinLnBrk="0" hangingPunct="1">
              <a:lnSpc>
                <a:spcPct val="100000"/>
              </a:lnSpc>
              <a:spcBef>
                <a:spcPts val="375"/>
              </a:spcBef>
              <a:spcAft>
                <a:spcPts val="0"/>
              </a:spcAft>
              <a:buClrTx/>
              <a:buSzTx/>
              <a:buFontTx/>
              <a:buNone/>
              <a:tabLst/>
              <a:defRPr/>
            </a:pPr>
            <a:r>
              <a:rPr kumimoji="0" lang="vi-VN" sz="2304" b="1" i="0" u="none" strike="noStrike" kern="1200" cap="none" spc="0" normalizeH="0" baseline="0" noProof="0" dirty="0">
                <a:ln>
                  <a:noFill/>
                </a:ln>
                <a:solidFill>
                  <a:srgbClr val="FFFFFF"/>
                </a:solidFill>
                <a:effectLst/>
                <a:uLnTx/>
                <a:uFillTx/>
                <a:latin typeface="+mj-lt"/>
                <a:ea typeface="Noto Sans" pitchFamily="34" charset="-122"/>
                <a:cs typeface="Noto Sans" pitchFamily="34" charset="-120"/>
              </a:rPr>
              <a:t>Kết luận</a:t>
            </a:r>
            <a:endParaRPr kumimoji="0" lang="en-US" sz="1440" b="0" i="0" u="none" strike="noStrike" kern="1200" cap="none" spc="0" normalizeH="0" baseline="0" noProof="0" dirty="0">
              <a:ln>
                <a:noFill/>
              </a:ln>
              <a:solidFill>
                <a:prstClr val="black"/>
              </a:solidFill>
              <a:effectLst/>
              <a:uLnTx/>
              <a:uFillTx/>
              <a:latin typeface="+mj-lt"/>
              <a:ea typeface="+mn-ea"/>
              <a:cs typeface="+mn-cs"/>
            </a:endParaRPr>
          </a:p>
        </p:txBody>
      </p:sp>
      <p:sp>
        <p:nvSpPr>
          <p:cNvPr id="3" name="Text 1"/>
          <p:cNvSpPr/>
          <p:nvPr/>
        </p:nvSpPr>
        <p:spPr>
          <a:xfrm>
            <a:off x="3276144" y="1127701"/>
            <a:ext cx="2591713" cy="1421287"/>
          </a:xfrm>
          <a:prstGeom prst="rect">
            <a:avLst/>
          </a:prstGeom>
          <a:noFill/>
          <a:ln/>
        </p:spPr>
        <p:txBody>
          <a:bodyPr wrap="square" lIns="95250" tIns="95250" rIns="95250" bIns="95250" rtlCol="0" anchor="ctr">
            <a:spAutoFit/>
          </a:bodyPr>
          <a:lstStyle/>
          <a:p>
            <a:pPr marL="0" marR="0" lvl="0" indent="0" algn="ctr" defTabSz="914400" rtl="0" eaLnBrk="1" fontAlgn="auto" latinLnBrk="0" hangingPunct="1">
              <a:lnSpc>
                <a:spcPct val="112500"/>
              </a:lnSpc>
              <a:spcBef>
                <a:spcPts val="375"/>
              </a:spcBef>
              <a:spcAft>
                <a:spcPts val="0"/>
              </a:spcAft>
              <a:buClrTx/>
              <a:buSzTx/>
              <a:buFontTx/>
              <a:buNone/>
              <a:tabLst/>
              <a:defRPr/>
            </a:pPr>
            <a:r>
              <a:rPr kumimoji="0" lang="vi-VN" sz="7488" b="1" i="0" u="none" strike="noStrike" kern="1200" cap="none" spc="0" normalizeH="0" baseline="0" noProof="0" dirty="0">
                <a:ln>
                  <a:noFill/>
                </a:ln>
                <a:solidFill>
                  <a:srgbClr val="FFFFFF"/>
                </a:solidFill>
                <a:effectLst/>
                <a:uLnTx/>
                <a:uFillTx/>
                <a:latin typeface="+mj-lt"/>
                <a:ea typeface="Noto Sans" pitchFamily="34" charset="-122"/>
                <a:cs typeface="Noto Sans" pitchFamily="34" charset="-120"/>
              </a:rPr>
              <a:t>05</a:t>
            </a:r>
            <a:endParaRPr kumimoji="0" lang="en-US" sz="1440" b="0" i="0" u="none" strike="noStrike" kern="1200" cap="none" spc="0" normalizeH="0" baseline="0" noProof="0" dirty="0">
              <a:ln>
                <a:noFill/>
              </a:ln>
              <a:solidFill>
                <a:prstClr val="black"/>
              </a:solidFill>
              <a:effectLst/>
              <a:uLnTx/>
              <a:uFillTx/>
              <a:latin typeface="+mj-lt"/>
              <a:ea typeface="+mn-ea"/>
              <a:cs typeface="+mn-cs"/>
            </a:endParaRPr>
          </a:p>
        </p:txBody>
      </p:sp>
      <p:sp>
        <p:nvSpPr>
          <p:cNvPr id="4" name="Shape 2"/>
          <p:cNvSpPr/>
          <p:nvPr/>
        </p:nvSpPr>
        <p:spPr>
          <a:xfrm>
            <a:off x="4393087" y="3494108"/>
            <a:ext cx="357826" cy="0"/>
          </a:xfrm>
          <a:custGeom>
            <a:avLst/>
            <a:gdLst/>
            <a:ahLst/>
            <a:cxnLst/>
            <a:rect l="l" t="t" r="r" b="b"/>
            <a:pathLst>
              <a:path w="357826">
                <a:moveTo>
                  <a:pt x="0" y="0"/>
                </a:moveTo>
                <a:moveTo>
                  <a:pt x="0" y="0"/>
                </a:moveTo>
                <a:lnTo>
                  <a:pt x="357826" y="0"/>
                </a:lnTo>
              </a:path>
            </a:pathLst>
          </a:custGeom>
          <a:noFill/>
          <a:ln w="28575">
            <a:solidFill>
              <a:srgbClr val="EED7C0"/>
            </a:solidFill>
            <a:prstDash val="solid"/>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1818075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 2"/>
          <p:cNvSpPr/>
          <p:nvPr/>
        </p:nvSpPr>
        <p:spPr>
          <a:xfrm>
            <a:off x="163286" y="636928"/>
            <a:ext cx="1844926" cy="391774"/>
          </a:xfrm>
          <a:prstGeom prst="rect">
            <a:avLst/>
          </a:prstGeom>
          <a:noFill/>
          <a:ln/>
        </p:spPr>
        <p:txBody>
          <a:bodyPr wrap="square" lIns="95250" tIns="95250" rIns="95250" bIns="95250" rtlCol="0" anchor="t">
            <a:spAutoFit/>
          </a:bodyPr>
          <a:lstStyle/>
          <a:p>
            <a:pPr marL="0" marR="0" lvl="0" indent="0" algn="r" defTabSz="914400" rtl="0" eaLnBrk="1" fontAlgn="auto" latinLnBrk="0" hangingPunct="1">
              <a:lnSpc>
                <a:spcPct val="100000"/>
              </a:lnSpc>
              <a:spcBef>
                <a:spcPts val="375"/>
              </a:spcBef>
              <a:spcAft>
                <a:spcPts val="0"/>
              </a:spcAft>
              <a:buClrTx/>
              <a:buSzTx/>
              <a:buFontTx/>
              <a:buNone/>
              <a:tabLst/>
              <a:defRPr/>
            </a:pPr>
            <a:r>
              <a:rPr kumimoji="0" lang="vi-VN" sz="1296" b="1" i="0" u="none" strike="noStrike" kern="1200" cap="none" spc="0" normalizeH="0" baseline="0" noProof="0" dirty="0">
                <a:ln>
                  <a:noFill/>
                </a:ln>
                <a:solidFill>
                  <a:srgbClr val="9B6047"/>
                </a:solidFill>
                <a:effectLst/>
                <a:uLnTx/>
                <a:uFillTx/>
                <a:latin typeface="+mj-lt"/>
                <a:ea typeface="Noto Sans" pitchFamily="34" charset="-122"/>
                <a:cs typeface="Noto Sans" pitchFamily="34" charset="-120"/>
              </a:rPr>
              <a:t>Kết quả đạt được:</a:t>
            </a:r>
            <a:endParaRPr kumimoji="0" lang="en-US" sz="1440" b="0" i="0" u="none" strike="noStrike" kern="1200" cap="none" spc="0" normalizeH="0" baseline="0" noProof="0" dirty="0">
              <a:ln>
                <a:noFill/>
              </a:ln>
              <a:solidFill>
                <a:prstClr val="black"/>
              </a:solidFill>
              <a:effectLst/>
              <a:uLnTx/>
              <a:uFillTx/>
              <a:latin typeface="+mj-lt"/>
              <a:ea typeface="+mn-ea"/>
              <a:cs typeface="+mn-cs"/>
            </a:endParaRPr>
          </a:p>
        </p:txBody>
      </p:sp>
      <p:sp>
        <p:nvSpPr>
          <p:cNvPr id="6" name="Text 3"/>
          <p:cNvSpPr/>
          <p:nvPr/>
        </p:nvSpPr>
        <p:spPr>
          <a:xfrm>
            <a:off x="358040" y="1059792"/>
            <a:ext cx="8276509" cy="1278107"/>
          </a:xfrm>
          <a:prstGeom prst="rect">
            <a:avLst/>
          </a:prstGeom>
          <a:noFill/>
          <a:ln/>
        </p:spPr>
        <p:txBody>
          <a:bodyPr wrap="square" lIns="95250" tIns="95250" rIns="95250" bIns="95250" rtlCol="0" anchor="t">
            <a:spAutoFit/>
          </a:bodyP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rPr>
              <a:t>Xây dựng thành công hệ thống quản lý bán hàng trên nền tảng Web sử dụng ngôn ngữ PHP và cơ sở dữ liệu MySQL.</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rPr>
              <a:t>Hệ thống đáp ứng tốt các nghiệp vụ thực tế: quản lý menu động, lập hóa đơn tự động, in hóa đơn PDF và báo cáo doanh thu trực quan.</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rPr>
              <a:t>Tối ưu hóa hiệu suất: Thời gian xử lý đơn hàng trung bình dưới 2 giây, giảm lỗi tính toán đến 90% so với phương pháp thủ công.</a:t>
            </a:r>
          </a:p>
        </p:txBody>
      </p:sp>
      <p:sp>
        <p:nvSpPr>
          <p:cNvPr id="9" name="Text 6"/>
          <p:cNvSpPr/>
          <p:nvPr/>
        </p:nvSpPr>
        <p:spPr>
          <a:xfrm>
            <a:off x="251460" y="2844515"/>
            <a:ext cx="1668578" cy="393192"/>
          </a:xfrm>
          <a:prstGeom prst="rect">
            <a:avLst/>
          </a:prstGeom>
          <a:noFill/>
          <a:ln/>
        </p:spPr>
        <p:txBody>
          <a:bodyPr wrap="square" lIns="95250" tIns="95250" rIns="95250" bIns="95250" rtlCol="0" anchor="t">
            <a:spAutoFit/>
          </a:bodyPr>
          <a:lstStyle/>
          <a:p>
            <a:pPr marL="0" marR="0" lvl="0" indent="0" algn="r" defTabSz="914400" rtl="0" eaLnBrk="1" fontAlgn="auto" latinLnBrk="0" hangingPunct="1">
              <a:lnSpc>
                <a:spcPct val="100000"/>
              </a:lnSpc>
              <a:spcBef>
                <a:spcPts val="375"/>
              </a:spcBef>
              <a:spcAft>
                <a:spcPts val="0"/>
              </a:spcAft>
              <a:buClrTx/>
              <a:buSzTx/>
              <a:buFontTx/>
              <a:buNone/>
              <a:tabLst/>
              <a:defRPr/>
            </a:pPr>
            <a:r>
              <a:rPr kumimoji="0" lang="en-US" sz="1296" b="1" i="0" u="none" strike="noStrike" kern="1200" cap="none" spc="0" normalizeH="0" baseline="0" noProof="0" dirty="0" err="1">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Giá</a:t>
            </a:r>
            <a:r>
              <a:rPr kumimoji="0" lang="en-US" sz="1296" b="1" i="0" u="none" strike="noStrike" kern="1200" cap="none" spc="0" normalizeH="0" baseline="0" noProof="0" dirty="0">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 </a:t>
            </a:r>
            <a:r>
              <a:rPr kumimoji="0" lang="en-US" sz="1296" b="1" i="0" u="none" strike="noStrike" kern="1200" cap="none" spc="0" normalizeH="0" baseline="0" noProof="0" dirty="0" err="1">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trị</a:t>
            </a:r>
            <a:r>
              <a:rPr kumimoji="0" lang="en-US" sz="1296" b="1" i="0" u="none" strike="noStrike" kern="1200" cap="none" spc="0" normalizeH="0" baseline="0" noProof="0" dirty="0">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 </a:t>
            </a:r>
            <a:r>
              <a:rPr kumimoji="0" lang="en-US" sz="1296" b="1" i="0" u="none" strike="noStrike" kern="1200" cap="none" spc="0" normalizeH="0" baseline="0" noProof="0" dirty="0" err="1">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thực</a:t>
            </a:r>
            <a:r>
              <a:rPr kumimoji="0" lang="en-US" sz="1296" b="1" i="0" u="none" strike="noStrike" kern="1200" cap="none" spc="0" normalizeH="0" baseline="0" noProof="0" dirty="0">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 </a:t>
            </a:r>
            <a:r>
              <a:rPr kumimoji="0" lang="en-US" sz="1296" b="1" i="0" u="none" strike="noStrike" kern="1200" cap="none" spc="0" normalizeH="0" baseline="0" noProof="0" dirty="0" err="1">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tiễn</a:t>
            </a:r>
            <a:r>
              <a:rPr kumimoji="0" lang="en-US" sz="1296" b="1" i="0" u="none" strike="noStrike" kern="1200" cap="none" spc="0" normalizeH="0" baseline="0" noProof="0" dirty="0">
                <a:ln>
                  <a:noFill/>
                </a:ln>
                <a:solidFill>
                  <a:srgbClr val="9B6047"/>
                </a:solidFill>
                <a:effectLst/>
                <a:uLnTx/>
                <a:uFillTx/>
                <a:latin typeface="Times New Roman" panose="02020603050405020304" pitchFamily="18" charset="0"/>
                <a:ea typeface="Noto Sans" pitchFamily="34" charset="-122"/>
                <a:cs typeface="Times New Roman" panose="02020603050405020304" pitchFamily="18" charset="0"/>
              </a:rPr>
              <a:t>:</a:t>
            </a:r>
            <a:endParaRPr kumimoji="0" lang="en-US" sz="144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Text 7"/>
          <p:cNvSpPr/>
          <p:nvPr/>
        </p:nvSpPr>
        <p:spPr>
          <a:xfrm>
            <a:off x="358040" y="3321123"/>
            <a:ext cx="8132817" cy="760273"/>
          </a:xfrm>
          <a:prstGeom prst="rect">
            <a:avLst/>
          </a:prstGeom>
          <a:noFill/>
          <a:ln/>
        </p:spPr>
        <p:txBody>
          <a:bodyPr wrap="square" lIns="95250" tIns="95250" rIns="95250" bIns="95250" rtlCol="0" anchor="t">
            <a:spAutoFit/>
          </a:bodyPr>
          <a:lstStyle/>
          <a:p>
            <a:pPr marL="171450" marR="0" lvl="0" indent="-171450" defTabSz="914400" rtl="0" eaLnBrk="1" fontAlgn="auto" latinLnBrk="0" hangingPunct="1">
              <a:lnSpc>
                <a:spcPct val="100000"/>
              </a:lnSpc>
              <a:spcBef>
                <a:spcPts val="375"/>
              </a:spcBef>
              <a:spcAft>
                <a:spcPts val="0"/>
              </a:spcAft>
              <a:buClrTx/>
              <a:buSzTx/>
              <a:buFont typeface="Arial" panose="020B0604020202020204" pitchFamily="34" charset="0"/>
              <a:buChar char="•"/>
              <a:tabLst/>
              <a:defRPr/>
            </a:pPr>
            <a:r>
              <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rPr>
              <a:t>Cung cấp giải pháp quản lý tập trung, minh bạch cho các quán cafe quy mô nhỏ và vừa tại Việt Nam.</a:t>
            </a:r>
          </a:p>
          <a:p>
            <a:pPr marR="0" lvl="0" defTabSz="914400" rtl="0" eaLnBrk="1" fontAlgn="auto" latinLnBrk="0" hangingPunct="1">
              <a:lnSpc>
                <a:spcPct val="100000"/>
              </a:lnSpc>
              <a:spcBef>
                <a:spcPts val="375"/>
              </a:spcBef>
              <a:spcAft>
                <a:spcPts val="0"/>
              </a:spcAft>
              <a:buClrTx/>
              <a:buSzTx/>
              <a:tabLst/>
              <a:defRPr/>
            </a:pPr>
            <a:endPar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endParaRPr>
          </a:p>
          <a:p>
            <a:pPr marL="171450" marR="0" lvl="0" indent="-171450" defTabSz="914400" rtl="0" eaLnBrk="1" fontAlgn="auto" latinLnBrk="0" hangingPunct="1">
              <a:lnSpc>
                <a:spcPct val="100000"/>
              </a:lnSpc>
              <a:spcBef>
                <a:spcPts val="375"/>
              </a:spcBef>
              <a:spcAft>
                <a:spcPts val="0"/>
              </a:spcAft>
              <a:buClrTx/>
              <a:buSzTx/>
              <a:buFont typeface="Arial" panose="020B0604020202020204" pitchFamily="34" charset="0"/>
              <a:buChar char="•"/>
              <a:tabLst/>
              <a:defRPr/>
            </a:pPr>
            <a:r>
              <a:rPr kumimoji="0" lang="vi-VN" sz="1008" b="0" i="0" u="none" strike="noStrike" kern="1200" cap="none" spc="0" normalizeH="0" baseline="0" noProof="0" dirty="0">
                <a:ln>
                  <a:noFill/>
                </a:ln>
                <a:solidFill>
                  <a:srgbClr val="00070F"/>
                </a:solidFill>
                <a:effectLst/>
                <a:uLnTx/>
                <a:uFillTx/>
                <a:latin typeface="+mj-lt"/>
                <a:ea typeface="Noto Sans" pitchFamily="34" charset="-122"/>
                <a:cs typeface="Noto Sans" pitchFamily="34" charset="-120"/>
              </a:rPr>
              <a:t>Giúp chủ cửa hàng dễ dàng theo dõi doanh thu thời gian thực và quản lý nhân viên hiệu quả thông qua cơ chế phân quyền (Admin/Nhân viên).</a:t>
            </a:r>
            <a:endParaRPr kumimoji="0" lang="en-US" sz="1440" b="0" i="0" u="none" strike="noStrike" kern="1200" cap="none" spc="0" normalizeH="0" baseline="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2755995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14760" y="1141690"/>
            <a:ext cx="6940519" cy="1787605"/>
          </a:xfrm>
          <a:prstGeom prst="rect">
            <a:avLst/>
          </a:prstGeom>
          <a:noFill/>
          <a:ln/>
        </p:spPr>
        <p:txBody>
          <a:bodyPr wrap="square" lIns="95250" tIns="95250" rIns="95250" bIns="95250" rtlCol="0" anchor="t">
            <a:spAutoFit/>
          </a:bodyPr>
          <a:lstStyle/>
          <a:p>
            <a:pPr marL="0" indent="0">
              <a:lnSpc>
                <a:spcPct val="112500"/>
              </a:lnSpc>
              <a:spcBef>
                <a:spcPts val="375"/>
              </a:spcBef>
              <a:buNone/>
            </a:pPr>
            <a:r>
              <a:rPr lang="vi-VN" sz="4752" b="1">
                <a:solidFill>
                  <a:srgbClr val="EED7C0"/>
                </a:solidFill>
                <a:latin typeface="+mj-lt"/>
                <a:ea typeface="Noto Sans" pitchFamily="34" charset="-122"/>
                <a:cs typeface="Noto Sans" pitchFamily="34" charset="-120"/>
              </a:rPr>
              <a:t>CẢM ƠN CÔ VÀ CÁC BẠN ĐÃ LẮNG NGHE</a:t>
            </a:r>
            <a:r>
              <a:rPr lang="en-US" sz="4752" b="1" dirty="0">
                <a:solidFill>
                  <a:srgbClr val="EED7C0"/>
                </a:solidFill>
                <a:latin typeface="+mj-lt"/>
                <a:ea typeface="Noto Sans" pitchFamily="34" charset="-122"/>
                <a:cs typeface="Noto Sans" pitchFamily="34" charset="-120"/>
              </a:rPr>
              <a:t>！</a:t>
            </a:r>
            <a:endParaRPr lang="en-US" sz="1440"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1678</Words>
  <Application>Microsoft Office PowerPoint</Application>
  <PresentationFormat>On-screen Show (16:9)</PresentationFormat>
  <Paragraphs>222</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Arial</vt:lpstr>
      <vt:lpstr>Calibri</vt:lpstr>
      <vt:lpstr>Calibri Light</vt:lpstr>
      <vt:lpstr>Noto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4</cp:revision>
  <dcterms:created xsi:type="dcterms:W3CDTF">2025-12-27T03:13:13Z</dcterms:created>
  <dcterms:modified xsi:type="dcterms:W3CDTF">2025-12-27T06:10:30Z</dcterms:modified>
</cp:coreProperties>
</file>